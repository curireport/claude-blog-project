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사용 안내" id="{d0f3134c-4089-f69e-054c-3987f53c63a5}">
          <p14:sldIdLst>
            <p14:sldId id="256"/>
          </p14:sldIdLst>
        </p14:section>
        <p14:section name="챕터 카드" id="{7e627ddc-f479-d62d-3d5f-de5d063d724c}">
          <p14:sldIdLst>
            <p14:sldId id="257"/>
          </p14:sldIdLst>
        </p14:section>
        <p14:section name="부품 안내" id="{afb42dc8-5a58-f150-4dcf-55944a34bebe}">
          <p14:sldIdLst>
            <p14:sldId id="258"/>
            <p14:sldId id="259"/>
            <p14:sldId id="260"/>
            <p14:sldId id="261"/>
          </p14:sldIdLst>
        </p14:section>
        <p14:section name="작업 준비" id="{124176cc-2835-af91-d130-246f1020671f}">
          <p14:sldIdLst>
            <p14:sldId id="262"/>
            <p14:sldId id="263"/>
          </p14:sldIdLst>
        </p14:section>
        <p14:section name="오버레이" id="{1a8f99fa-5298-94c0-b99f-9343eb9fb61b}">
          <p14:sldIdLst>
            <p14:sldId id="264"/>
          </p14:sldIdLst>
        </p14:section>
        <p14:section name="엔딩" id="{c76d0db6-dc5f-2ec9-207e-c009673c1846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슬라이드는 사용 안내용입니다. 영상에는 2번 슬라이드부터 사용하세요. 슬라이드 크기는 16:9이며, PNG로 저장하면 영상 화면(1920x1080)에 꽉 맞습니다. 고해상도가 필요하면 PowerPoint 옵션 &gt; 고급 &gt; '이미지 크기 및 품질'에서 해상도를 높이세요.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챕터 시작 전에 2~3초 보여주는 카드입니다. 숫자(01, 02…)와 챕터 제목, 소요시간·난이도·공구 칩을 바꿔서 챕터마다 한 장씩 복제해 사용하세요.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부품이 처음 등장할 때 보여주는 카드입니다. 왼쪽 사진 칸에 부품 사진을 넣고, 부품명·품번·적용 모델·설명을 바꾸세요. 배경을 지운 부품 사진(누끼)을 쓰면 가장 깔끔합니다.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영상 초반, 시청자가 '내 고장이 이 부품 문제가 맞는지' 확인하는 카드입니다. 증상 3개와 사진, 하단의 부품명을 바꾸세요. 증상이 2개면 카드 하나를 지우고 나머지 간격을 넓히세요.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증상 → 원인 → 해결 흐름 카드입니다. 사진 없이 문구만으로 원인을 설명할 때 사용하세요.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구형/신형, 모델별 차이, 정상/고장 부품 비교 등 두 사진을 나란히 보여줄 때 사용하세요. 라벨(A/B)과 설명을 바꾸면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작업 시작 전 준비물 카드입니다. 칸이 3개면 카드 하나를 지우고 간격을 다시 맞추세요. 첫 칸(필수)은 판매 부품을 강조하는 자리입니다.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안전 주의 카드입니다. 비데는 전원, 수전·양변기는 급수 밸브 위주로 문구를 바꾸세요.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영상 위에 겹쳐 쓰는 하단 자막 배너(왼쪽)와 단계 태그(오른쪽)입니다. 투명 배경이 필요하면 슬라이드 전체가 아니라 배너 도형만 선택해 '그림으로 저장'하세요. 위의 회색 사진 칸과 안내 문구는 위치 확인용이니 저장할 때 선택하지 마세요.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영상 마지막 구매 안내 카드입니다. 스마트스토어 이름/검색어가 다르면 흰색 버튼 문구를 바꾸세요.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9248" y="4727448"/>
            <a:ext cx="182880" cy="182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18704" y="46817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바로바스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23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9248" y="4727448"/>
            <a:ext cx="182880" cy="182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18704" y="46817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바로바스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BAROBATH PARTS GUIDE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부품 안내 카드 템플릿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CD8"/>
                </a:solidFill>
              </a:rPr>
              <a:t>유튜브 영상 중간·챕터 시작 전에 넣는 PNG 이미지용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2514600" cy="1691640"/>
          </a:xfrm>
          <a:prstGeom prst="roundRect">
            <a:avLst>
              <a:gd name="adj" fmla="val 6486"/>
            </a:avLst>
          </a:prstGeom>
          <a:solidFill>
            <a:schemeClr val="accent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6974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1546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글자 바꾸기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52044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CD8"/>
                </a:solidFill>
              </a:rPr>
              <a:t>부품명·증상·설명 문구를 영상 내용에 맞게 수정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2514600"/>
            <a:ext cx="2514600" cy="1691640"/>
          </a:xfrm>
          <a:prstGeom prst="roundRect">
            <a:avLst>
              <a:gd name="adj" fmla="val 6486"/>
            </a:avLst>
          </a:prstGeom>
          <a:solidFill>
            <a:schemeClr val="accent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74720" y="26974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31546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사진 넣기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352044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CD8"/>
                </a:solidFill>
              </a:rPr>
              <a:t>점선 사진 칸 위에 사진을 붙여넣고 크기 맞추기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2514600"/>
            <a:ext cx="2514600" cy="1691640"/>
          </a:xfrm>
          <a:prstGeom prst="roundRect">
            <a:avLst>
              <a:gd name="adj" fmla="val 6486"/>
            </a:avLst>
          </a:prstGeom>
          <a:solidFill>
            <a:schemeClr val="accent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26974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31546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PNG로 저장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352044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CD8"/>
                </a:solidFill>
              </a:rPr>
              <a:t>파일 → 다른 이름으로 저장 → PNG → '현재 슬라이드만'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77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chemeClr val="accent1"/>
                </a:solidFill>
              </a:rPr>
              <a:t>CHAPTER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chemeClr val="accent2"/>
                </a:solidFill>
              </a:rPr>
              <a:t>01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774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비데 노즐 교체하기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CCD8"/>
                </a:solidFill>
              </a:rPr>
              <a:t>기존 노즐을 분리하고 새 노즐을 장착하는 과정입니다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840480"/>
            <a:ext cx="1234440" cy="34747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3922776"/>
            <a:ext cx="182880" cy="1828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14400" y="384048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약 5분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892808" y="3840480"/>
            <a:ext cx="1371600" cy="34747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3922776"/>
            <a:ext cx="182880" cy="1828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258568" y="38404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난이도 하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374136" y="3840480"/>
            <a:ext cx="1600200" cy="34747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008" y="3922776"/>
            <a:ext cx="182880" cy="1828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739896" y="384048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십자드라이버</a:t>
            </a:r>
            <a:endParaRPr lang="en-US" sz="1200" dirty="0"/>
          </a:p>
        </p:txBody>
      </p:sp>
      <p:sp>
        <p:nvSpPr>
          <p:cNvPr id="15" name="photo"/>
          <p:cNvSpPr/>
          <p:nvPr/>
        </p:nvSpPr>
        <p:spPr>
          <a:xfrm>
            <a:off x="5349240" y="548640"/>
            <a:ext cx="3246120" cy="3886200"/>
          </a:xfrm>
          <a:prstGeom prst="roundRect">
            <a:avLst>
              <a:gd name="adj" fmla="val 3380"/>
            </a:avLst>
          </a:prstGeom>
          <a:solidFill>
            <a:schemeClr val="accent4"/>
          </a:solidFill>
          <a:ln w="15875">
            <a:solidFill>
              <a:srgbClr val="5F8096"/>
            </a:solidFill>
            <a:prstDash val="dash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700" y="2116836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440680" y="261061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B0C4"/>
                </a:solidFill>
              </a:rPr>
              <a:t>부품 또는 작업 사진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oto"/>
          <p:cNvSpPr/>
          <p:nvPr/>
        </p:nvSpPr>
        <p:spPr>
          <a:xfrm>
            <a:off x="457200" y="457200"/>
            <a:ext cx="4023360" cy="4114800"/>
          </a:xfrm>
          <a:prstGeom prst="roundRect">
            <a:avLst>
              <a:gd name="adj" fmla="val 2727"/>
            </a:avLst>
          </a:prstGeom>
          <a:solidFill>
            <a:schemeClr val="accent6"/>
          </a:solidFill>
          <a:ln w="15875">
            <a:solidFill>
              <a:srgbClr val="B4C4CF"/>
            </a:solidFill>
            <a:prstDash val="dash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0280" y="2139696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6334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909C"/>
                </a:solidFill>
              </a:rPr>
              <a:t>부품 사진 (배경 지운 사진 추천)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846320" y="548640"/>
            <a:ext cx="114300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992624" y="548640"/>
            <a:ext cx="905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교체 부품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10058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비데 노즐 어셈블리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4846320" y="16002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품번  DB-N100</a:t>
            </a:r>
            <a:endParaRPr lang="en-US" sz="1300" dirty="0"/>
          </a:p>
        </p:txBody>
      </p:sp>
      <p:sp>
        <p:nvSpPr>
          <p:cNvPr id="9" name="info-card"/>
          <p:cNvSpPr/>
          <p:nvPr/>
        </p:nvSpPr>
        <p:spPr>
          <a:xfrm>
            <a:off x="4846320" y="2057400"/>
            <a:ext cx="384048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2324A">
                <a:alpha val="1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5029200" y="219456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적용 모델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035040" y="2194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DLB-0000 / DLB-1000 시리즈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029200" y="25603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교체 주기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035040" y="2560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약 1~2년 (사용량에 따라 다름)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029200" y="292608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구성품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035040" y="2926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노즐 1개, 고정 나사 2개</a:t>
            </a:r>
            <a:endParaRPr lang="en-US" sz="12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3611880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212080" y="3584448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물이 약하게 나오거나 방향이 틀어질 때 교체하는 부품입니다. 노즐 끝 모양으로 모델을 구분할 수 있어요.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이런 증상이 있나요?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아래 증상 중 하나라도 해당되면 부품 교체가 필요해요</a:t>
            </a:r>
            <a:endParaRPr lang="en-US" sz="1300" dirty="0"/>
          </a:p>
        </p:txBody>
      </p:sp>
      <p:sp>
        <p:nvSpPr>
          <p:cNvPr id="4" name="symptom-1"/>
          <p:cNvSpPr/>
          <p:nvPr/>
        </p:nvSpPr>
        <p:spPr>
          <a:xfrm>
            <a:off x="457200" y="1417320"/>
            <a:ext cx="2615184" cy="25146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2324A">
                <a:alpha val="10000"/>
              </a:srgbClr>
            </a:outerShdw>
          </a:effectLst>
        </p:spPr>
      </p:sp>
      <p:sp>
        <p:nvSpPr>
          <p:cNvPr id="5" name="photo"/>
          <p:cNvSpPr/>
          <p:nvPr/>
        </p:nvSpPr>
        <p:spPr>
          <a:xfrm>
            <a:off x="594360" y="1554480"/>
            <a:ext cx="2340864" cy="1234440"/>
          </a:xfrm>
          <a:prstGeom prst="roundRect">
            <a:avLst>
              <a:gd name="adj" fmla="val 8889"/>
            </a:avLst>
          </a:prstGeom>
          <a:solidFill>
            <a:schemeClr val="accent6"/>
          </a:solidFill>
          <a:ln w="15875">
            <a:solidFill>
              <a:srgbClr val="B4C4CF"/>
            </a:solidFill>
            <a:prstDash val="dash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1970" y="1852574"/>
            <a:ext cx="345643" cy="34564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234794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909C"/>
                </a:solidFill>
              </a:rPr>
              <a:t>증상 사진</a:t>
            </a:r>
            <a:endParaRPr lang="en-US" sz="1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92608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60120" y="289864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물줄기가 약해요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21792" y="32918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노즐에서 나오는 물이 가늘거나 끊겨요</a:t>
            </a:r>
            <a:endParaRPr lang="en-US" sz="1200" dirty="0"/>
          </a:p>
        </p:txBody>
      </p:sp>
      <p:sp>
        <p:nvSpPr>
          <p:cNvPr id="11" name="symptom-2"/>
          <p:cNvSpPr/>
          <p:nvPr/>
        </p:nvSpPr>
        <p:spPr>
          <a:xfrm>
            <a:off x="3264408" y="1417320"/>
            <a:ext cx="2615184" cy="25146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2324A">
                <a:alpha val="10000"/>
              </a:srgbClr>
            </a:outerShdw>
          </a:effectLst>
        </p:spPr>
      </p:sp>
      <p:sp>
        <p:nvSpPr>
          <p:cNvPr id="12" name="photo"/>
          <p:cNvSpPr/>
          <p:nvPr/>
        </p:nvSpPr>
        <p:spPr>
          <a:xfrm>
            <a:off x="3401568" y="1554480"/>
            <a:ext cx="2340864" cy="1234440"/>
          </a:xfrm>
          <a:prstGeom prst="roundRect">
            <a:avLst>
              <a:gd name="adj" fmla="val 8889"/>
            </a:avLst>
          </a:prstGeom>
          <a:solidFill>
            <a:schemeClr val="accent6"/>
          </a:solidFill>
          <a:ln w="15875">
            <a:solidFill>
              <a:srgbClr val="B4C4CF"/>
            </a:solidFill>
            <a:prstDash val="dash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9178" y="1852574"/>
            <a:ext cx="345643" cy="34564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493008" y="2234794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909C"/>
                </a:solidFill>
              </a:rPr>
              <a:t>증상 사진</a:t>
            </a:r>
            <a:endParaRPr lang="en-US" sz="1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2926080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3767328" y="289864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물이 새요</a:t>
            </a:r>
            <a:endParaRPr lang="en-US" sz="1600" dirty="0"/>
          </a:p>
        </p:txBody>
      </p:sp>
      <p:sp>
        <p:nvSpPr>
          <p:cNvPr id="17" name="Text 11"/>
          <p:cNvSpPr txBox="1"/>
          <p:nvPr/>
        </p:nvSpPr>
        <p:spPr>
          <a:xfrm>
            <a:off x="3429000" y="32918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사용하지 않을 때도 물이 떨어져요</a:t>
            </a:r>
            <a:endParaRPr lang="en-US" sz="1200" dirty="0"/>
          </a:p>
        </p:txBody>
      </p:sp>
      <p:sp>
        <p:nvSpPr>
          <p:cNvPr id="18" name="symptom-3"/>
          <p:cNvSpPr/>
          <p:nvPr/>
        </p:nvSpPr>
        <p:spPr>
          <a:xfrm>
            <a:off x="6071616" y="1417320"/>
            <a:ext cx="2615184" cy="25146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2324A">
                <a:alpha val="10000"/>
              </a:srgbClr>
            </a:outerShdw>
          </a:effectLst>
        </p:spPr>
      </p:sp>
      <p:sp>
        <p:nvSpPr>
          <p:cNvPr id="19" name="photo"/>
          <p:cNvSpPr/>
          <p:nvPr/>
        </p:nvSpPr>
        <p:spPr>
          <a:xfrm>
            <a:off x="6208776" y="1554480"/>
            <a:ext cx="2340864" cy="1234440"/>
          </a:xfrm>
          <a:prstGeom prst="roundRect">
            <a:avLst>
              <a:gd name="adj" fmla="val 8889"/>
            </a:avLst>
          </a:prstGeom>
          <a:solidFill>
            <a:schemeClr val="accent6"/>
          </a:solidFill>
          <a:ln w="15875">
            <a:solidFill>
              <a:srgbClr val="B4C4CF"/>
            </a:solidFill>
            <a:prstDash val="dash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6386" y="1852574"/>
            <a:ext cx="345643" cy="345643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300216" y="2234794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909C"/>
                </a:solidFill>
              </a:rPr>
              <a:t>증상 사진</a:t>
            </a:r>
            <a:endParaRPr lang="en-US" sz="10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6208" y="2926080"/>
            <a:ext cx="274320" cy="27432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6574536" y="289864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노즐이 안 나와요</a:t>
            </a:r>
            <a:endParaRPr lang="en-US" sz="1600" dirty="0"/>
          </a:p>
        </p:txBody>
      </p:sp>
      <p:sp>
        <p:nvSpPr>
          <p:cNvPr id="24" name="Text 16"/>
          <p:cNvSpPr txBox="1"/>
          <p:nvPr/>
        </p:nvSpPr>
        <p:spPr>
          <a:xfrm>
            <a:off x="6236208" y="32918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버튼을 눌러도 노즐이 움직이지 않아요</a:t>
            </a:r>
            <a:endParaRPr lang="en-US" sz="1200" dirty="0"/>
          </a:p>
        </p:txBody>
      </p:sp>
      <p:sp>
        <p:nvSpPr>
          <p:cNvPr id="25" name="Shape 17"/>
          <p:cNvSpPr/>
          <p:nvPr/>
        </p:nvSpPr>
        <p:spPr>
          <a:xfrm>
            <a:off x="457200" y="4114800"/>
            <a:ext cx="6949440" cy="4572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26" name="Text 18"/>
          <p:cNvSpPr txBox="1"/>
          <p:nvPr/>
        </p:nvSpPr>
        <p:spPr>
          <a:xfrm>
            <a:off x="685800" y="41148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→ 이 증상이라면  </a:t>
            </a:r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비데 노즐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  교체로 해결할 수 있어요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고장 원인 한눈에 보기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증상에서 원인 부품, 해결 방법까지</a:t>
            </a:r>
            <a:endParaRPr lang="en-US" sz="1300" dirty="0"/>
          </a:p>
        </p:txBody>
      </p:sp>
      <p:sp>
        <p:nvSpPr>
          <p:cNvPr id="4" name="flow-1"/>
          <p:cNvSpPr/>
          <p:nvPr/>
        </p:nvSpPr>
        <p:spPr>
          <a:xfrm>
            <a:off x="457200" y="1463040"/>
            <a:ext cx="2468880" cy="251460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2324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9164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856232"/>
            <a:ext cx="356616" cy="356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7830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증상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6060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물이 계속 흘러요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10896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사용 후에도 변기 안으로 물이 졸졸 흘러요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0944" y="2834640"/>
            <a:ext cx="274320" cy="274320"/>
          </a:xfrm>
          <a:prstGeom prst="rect">
            <a:avLst/>
          </a:prstGeom>
        </p:spPr>
      </p:pic>
      <p:sp>
        <p:nvSpPr>
          <p:cNvPr id="11" name="flow-2"/>
          <p:cNvSpPr/>
          <p:nvPr/>
        </p:nvSpPr>
        <p:spPr>
          <a:xfrm>
            <a:off x="3291840" y="1463040"/>
            <a:ext cx="2468880" cy="251460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2324A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520440" y="169164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5032" y="1856232"/>
            <a:ext cx="356616" cy="35661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343400" y="17830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원인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3520440" y="26060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필밸브 고무 마모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3520440" y="310896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오래 쓰면 고무 패킹이 굳거나 갈라져요</a:t>
            </a:r>
            <a:endParaRPr lang="en-US" sz="13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5584" y="2834640"/>
            <a:ext cx="274320" cy="274320"/>
          </a:xfrm>
          <a:prstGeom prst="rect">
            <a:avLst/>
          </a:prstGeom>
        </p:spPr>
      </p:pic>
      <p:sp>
        <p:nvSpPr>
          <p:cNvPr id="18" name="flow-3"/>
          <p:cNvSpPr/>
          <p:nvPr/>
        </p:nvSpPr>
        <p:spPr>
          <a:xfrm>
            <a:off x="6126480" y="1463040"/>
            <a:ext cx="2468880" cy="251460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2324A">
                <a:alpha val="1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55080" y="16916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9672" y="1856232"/>
            <a:ext cx="356616" cy="35661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178040" y="17830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해결</a:t>
            </a:r>
            <a:endParaRPr lang="en-US" sz="1800" dirty="0"/>
          </a:p>
        </p:txBody>
      </p:sp>
      <p:sp>
        <p:nvSpPr>
          <p:cNvPr id="22" name="Text 15"/>
          <p:cNvSpPr txBox="1"/>
          <p:nvPr/>
        </p:nvSpPr>
        <p:spPr>
          <a:xfrm>
            <a:off x="6355080" y="26060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필밸브 교체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6355080" y="310896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새 필밸브로 바꾸면 10분 안에 해결돼요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내 제품에 맞는 부품 확인하기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모양이 비슷해도 모델마다 부품이 달라요</a:t>
            </a:r>
            <a:endParaRPr lang="en-US" sz="1300" dirty="0"/>
          </a:p>
        </p:txBody>
      </p:sp>
      <p:sp>
        <p:nvSpPr>
          <p:cNvPr id="4" name="photo"/>
          <p:cNvSpPr/>
          <p:nvPr/>
        </p:nvSpPr>
        <p:spPr>
          <a:xfrm>
            <a:off x="457200" y="1371600"/>
            <a:ext cx="4023360" cy="2377440"/>
          </a:xfrm>
          <a:prstGeom prst="roundRect">
            <a:avLst>
              <a:gd name="adj" fmla="val 4615"/>
            </a:avLst>
          </a:prstGeom>
          <a:solidFill>
            <a:schemeClr val="accent6"/>
          </a:solidFill>
          <a:ln w="15875">
            <a:solidFill>
              <a:srgbClr val="B4C4CF"/>
            </a:solidFill>
            <a:prstDash val="dash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0280" y="2185416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6791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909C"/>
                </a:solidFill>
              </a:rPr>
              <a:t>비교 사진 A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388620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5720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3840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구형 타입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4160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DLB-0000 / 노즐 끝이 둥근 모양</a:t>
            </a:r>
            <a:endParaRPr lang="en-US" sz="1200" dirty="0"/>
          </a:p>
        </p:txBody>
      </p:sp>
      <p:sp>
        <p:nvSpPr>
          <p:cNvPr id="11" name="photo"/>
          <p:cNvSpPr/>
          <p:nvPr/>
        </p:nvSpPr>
        <p:spPr>
          <a:xfrm>
            <a:off x="4663440" y="1371600"/>
            <a:ext cx="4023360" cy="2377440"/>
          </a:xfrm>
          <a:prstGeom prst="roundRect">
            <a:avLst>
              <a:gd name="adj" fmla="val 4615"/>
            </a:avLst>
          </a:prstGeom>
          <a:solidFill>
            <a:schemeClr val="accent6"/>
          </a:solidFill>
          <a:ln w="15875">
            <a:solidFill>
              <a:srgbClr val="B4C4CF"/>
            </a:solidFill>
            <a:prstDash val="dash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185416"/>
            <a:ext cx="457200" cy="4572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754880" y="26791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909C"/>
                </a:solidFill>
              </a:rPr>
              <a:t>비교 사진 B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663440" y="3886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466344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5303520" y="3840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신형 타입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5303520" y="4160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DLB-1000 / 노즐 끝이 납작한 모양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준비물을 확인하세요</a:t>
            </a:r>
            <a:endParaRPr lang="en-US" sz="2800" dirty="0"/>
          </a:p>
        </p:txBody>
      </p:sp>
      <p:sp>
        <p:nvSpPr>
          <p:cNvPr id="3" name="tool-1"/>
          <p:cNvSpPr/>
          <p:nvPr/>
        </p:nvSpPr>
        <p:spPr>
          <a:xfrm>
            <a:off x="457200" y="1188720"/>
            <a:ext cx="1920240" cy="324612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2324A">
                <a:alpha val="10000"/>
              </a:srgbClr>
            </a:outerShdw>
          </a:effectLst>
        </p:spPr>
      </p:sp>
      <p:sp>
        <p:nvSpPr>
          <p:cNvPr id="4" name="photo"/>
          <p:cNvSpPr/>
          <p:nvPr/>
        </p:nvSpPr>
        <p:spPr>
          <a:xfrm>
            <a:off x="594360" y="1325880"/>
            <a:ext cx="1645920" cy="1645920"/>
          </a:xfrm>
          <a:prstGeom prst="roundRect">
            <a:avLst>
              <a:gd name="adj" fmla="val 6667"/>
            </a:avLst>
          </a:prstGeom>
          <a:solidFill>
            <a:schemeClr val="accent6"/>
          </a:solidFill>
          <a:ln w="15875">
            <a:solidFill>
              <a:srgbClr val="B4C4CF"/>
            </a:solidFill>
            <a:prstDash val="dash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773936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2677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909C"/>
                </a:solidFill>
              </a:rPr>
              <a:t>부품 사진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" y="3090672"/>
            <a:ext cx="86868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40664" y="3090672"/>
            <a:ext cx="630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필수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35204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교체 부품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38862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비데 노즐 어셈블리</a:t>
            </a:r>
            <a:endParaRPr lang="en-US" sz="1200" dirty="0"/>
          </a:p>
        </p:txBody>
      </p:sp>
      <p:sp>
        <p:nvSpPr>
          <p:cNvPr id="11" name="tool-2"/>
          <p:cNvSpPr/>
          <p:nvPr/>
        </p:nvSpPr>
        <p:spPr>
          <a:xfrm>
            <a:off x="2560320" y="1188720"/>
            <a:ext cx="1920240" cy="324612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2324A">
                <a:alpha val="10000"/>
              </a:srgbClr>
            </a:outerShdw>
          </a:effectLst>
        </p:spPr>
      </p:sp>
      <p:sp>
        <p:nvSpPr>
          <p:cNvPr id="12" name="photo"/>
          <p:cNvSpPr/>
          <p:nvPr/>
        </p:nvSpPr>
        <p:spPr>
          <a:xfrm>
            <a:off x="2697480" y="1325880"/>
            <a:ext cx="1645920" cy="1645920"/>
          </a:xfrm>
          <a:prstGeom prst="roundRect">
            <a:avLst>
              <a:gd name="adj" fmla="val 6667"/>
            </a:avLst>
          </a:prstGeom>
          <a:solidFill>
            <a:schemeClr val="accent6"/>
          </a:solidFill>
          <a:ln w="15875">
            <a:solidFill>
              <a:srgbClr val="B4C4CF"/>
            </a:solidFill>
            <a:prstDash val="dash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773936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788920" y="22677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909C"/>
                </a:solidFill>
              </a:rPr>
              <a:t>공구 사진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2697480" y="31546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십자드라이버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2697480" y="35204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고정 나사 분리용</a:t>
            </a:r>
            <a:endParaRPr lang="en-US" sz="1200" dirty="0"/>
          </a:p>
        </p:txBody>
      </p:sp>
      <p:sp>
        <p:nvSpPr>
          <p:cNvPr id="17" name="tool-3"/>
          <p:cNvSpPr/>
          <p:nvPr/>
        </p:nvSpPr>
        <p:spPr>
          <a:xfrm>
            <a:off x="4663440" y="1188720"/>
            <a:ext cx="1920240" cy="324612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2324A">
                <a:alpha val="10000"/>
              </a:srgbClr>
            </a:outerShdw>
          </a:effectLst>
        </p:spPr>
      </p:sp>
      <p:sp>
        <p:nvSpPr>
          <p:cNvPr id="18" name="photo"/>
          <p:cNvSpPr/>
          <p:nvPr/>
        </p:nvSpPr>
        <p:spPr>
          <a:xfrm>
            <a:off x="4800600" y="1325880"/>
            <a:ext cx="1645920" cy="1645920"/>
          </a:xfrm>
          <a:prstGeom prst="roundRect">
            <a:avLst>
              <a:gd name="adj" fmla="val 6667"/>
            </a:avLst>
          </a:prstGeom>
          <a:solidFill>
            <a:schemeClr val="accent6"/>
          </a:solidFill>
          <a:ln w="15875">
            <a:solidFill>
              <a:srgbClr val="B4C4CF"/>
            </a:solidFill>
            <a:prstDash val="dash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773936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892040" y="22677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909C"/>
                </a:solidFill>
              </a:rPr>
              <a:t>공구 사진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4800600" y="31546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마른 수건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4800600" y="35204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잔수 닦기용</a:t>
            </a:r>
            <a:endParaRPr lang="en-US" sz="1200" dirty="0"/>
          </a:p>
        </p:txBody>
      </p:sp>
      <p:sp>
        <p:nvSpPr>
          <p:cNvPr id="23" name="tool-4"/>
          <p:cNvSpPr/>
          <p:nvPr/>
        </p:nvSpPr>
        <p:spPr>
          <a:xfrm>
            <a:off x="6766560" y="1188720"/>
            <a:ext cx="1920240" cy="324612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2324A">
                <a:alpha val="10000"/>
              </a:srgbClr>
            </a:outerShdw>
          </a:effectLst>
        </p:spPr>
      </p:sp>
      <p:sp>
        <p:nvSpPr>
          <p:cNvPr id="24" name="photo"/>
          <p:cNvSpPr/>
          <p:nvPr/>
        </p:nvSpPr>
        <p:spPr>
          <a:xfrm>
            <a:off x="6903720" y="1325880"/>
            <a:ext cx="1645920" cy="1645920"/>
          </a:xfrm>
          <a:prstGeom prst="roundRect">
            <a:avLst>
              <a:gd name="adj" fmla="val 6667"/>
            </a:avLst>
          </a:prstGeom>
          <a:solidFill>
            <a:schemeClr val="accent6"/>
          </a:solidFill>
          <a:ln w="15875">
            <a:solidFill>
              <a:srgbClr val="B4C4CF"/>
            </a:solidFill>
            <a:prstDash val="dash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1773936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995160" y="22677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909C"/>
                </a:solidFill>
              </a:rPr>
              <a:t>공구 사진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6903720" y="31546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고무장갑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6903720" y="35204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위생·미끄럼 방지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05840" y="34747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작업 전 꼭 확인하세요</a:t>
            </a:r>
            <a:endParaRPr lang="en-US" sz="2800" dirty="0"/>
          </a:p>
        </p:txBody>
      </p:sp>
      <p:sp>
        <p:nvSpPr>
          <p:cNvPr id="4" name="warn-1"/>
          <p:cNvSpPr/>
          <p:nvPr/>
        </p:nvSpPr>
        <p:spPr>
          <a:xfrm>
            <a:off x="457200" y="1188720"/>
            <a:ext cx="448056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2324A">
                <a:alpha val="1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40080" y="137160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26" y="1514246"/>
            <a:ext cx="309067" cy="30906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17320" y="13258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전원 플러그 뽑기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1417320" y="167335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감전 위험이 있으니 반드시 전원을 먼저 분리하세요</a:t>
            </a:r>
            <a:endParaRPr lang="en-US" sz="1200" dirty="0"/>
          </a:p>
        </p:txBody>
      </p:sp>
      <p:sp>
        <p:nvSpPr>
          <p:cNvPr id="9" name="warn-2"/>
          <p:cNvSpPr/>
          <p:nvPr/>
        </p:nvSpPr>
        <p:spPr>
          <a:xfrm>
            <a:off x="457200" y="2304288"/>
            <a:ext cx="448056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2324A">
                <a:alpha val="1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640080" y="2487168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26" y="2629814"/>
            <a:ext cx="309067" cy="30906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417320" y="244144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급수 밸브 잠그기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1417320" y="278892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벽 쪽 앵글밸브를 시계 방향으로 끝까지 돌려요</a:t>
            </a:r>
            <a:endParaRPr lang="en-US" sz="1200" dirty="0"/>
          </a:p>
        </p:txBody>
      </p:sp>
      <p:sp>
        <p:nvSpPr>
          <p:cNvPr id="14" name="warn-3"/>
          <p:cNvSpPr/>
          <p:nvPr/>
        </p:nvSpPr>
        <p:spPr>
          <a:xfrm>
            <a:off x="457200" y="3419856"/>
            <a:ext cx="448056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2324A">
                <a:alpha val="10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640080" y="3602736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726" y="3745382"/>
            <a:ext cx="309067" cy="30906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417320" y="355701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남은 물 빼기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1417320" y="3904488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호스 안의 잔수가 흐를 수 있으니 수건을 깔아두세요</a:t>
            </a:r>
            <a:endParaRPr lang="en-US" sz="1200" dirty="0"/>
          </a:p>
        </p:txBody>
      </p:sp>
      <p:sp>
        <p:nvSpPr>
          <p:cNvPr id="19" name="photo"/>
          <p:cNvSpPr/>
          <p:nvPr/>
        </p:nvSpPr>
        <p:spPr>
          <a:xfrm>
            <a:off x="5212080" y="1188720"/>
            <a:ext cx="3474720" cy="3191256"/>
          </a:xfrm>
          <a:prstGeom prst="roundRect">
            <a:avLst>
              <a:gd name="adj" fmla="val 3438"/>
            </a:avLst>
          </a:prstGeom>
          <a:solidFill>
            <a:schemeClr val="accent6"/>
          </a:solidFill>
          <a:ln w="15875">
            <a:solidFill>
              <a:srgbClr val="B4C4CF"/>
            </a:solidFill>
            <a:prstDash val="dash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0" y="2409444"/>
            <a:ext cx="457200" cy="4572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303520" y="29032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909C"/>
                </a:solidFill>
              </a:rPr>
              <a:t>밸브 위치 등 안내 사진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투명 배경 PNG 만들기: 배너 도형을 모두 선택(Shift+클릭) → 우클릭 → '그림으로 저장' → PNG</a:t>
            </a:r>
            <a:endParaRPr lang="en-US" sz="1200" dirty="0"/>
          </a:p>
        </p:txBody>
      </p:sp>
      <p:sp>
        <p:nvSpPr>
          <p:cNvPr id="3" name="photo"/>
          <p:cNvSpPr/>
          <p:nvPr/>
        </p:nvSpPr>
        <p:spPr>
          <a:xfrm>
            <a:off x="457200" y="822960"/>
            <a:ext cx="8229600" cy="2514600"/>
          </a:xfrm>
          <a:prstGeom prst="roundRect">
            <a:avLst>
              <a:gd name="adj" fmla="val 4364"/>
            </a:avLst>
          </a:prstGeom>
          <a:solidFill>
            <a:schemeClr val="accent6"/>
          </a:solidFill>
          <a:ln w="15875">
            <a:solidFill>
              <a:srgbClr val="B4C4CF"/>
            </a:solidFill>
            <a:prstDash val="dash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1705356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1991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909C"/>
                </a:solidFill>
              </a:rPr>
              <a:t>영상 화면 자리 (예시 위치 확인용 — 저장할 때 제외)</a:t>
            </a:r>
            <a:endParaRPr lang="en-US" sz="1000" dirty="0"/>
          </a:p>
        </p:txBody>
      </p:sp>
      <p:sp>
        <p:nvSpPr>
          <p:cNvPr id="6" name="banner-bg"/>
          <p:cNvSpPr/>
          <p:nvPr/>
        </p:nvSpPr>
        <p:spPr>
          <a:xfrm>
            <a:off x="457200" y="3611880"/>
            <a:ext cx="5852160" cy="868680"/>
          </a:xfrm>
          <a:prstGeom prst="roundRect">
            <a:avLst>
              <a:gd name="adj" fmla="val 14737"/>
            </a:avLst>
          </a:prstGeom>
          <a:solidFill>
            <a:schemeClr val="tx2"/>
          </a:solidFill>
          <a:ln/>
        </p:spPr>
      </p:sp>
      <p:sp>
        <p:nvSpPr>
          <p:cNvPr id="7" name="banner-icon-bg"/>
          <p:cNvSpPr/>
          <p:nvPr/>
        </p:nvSpPr>
        <p:spPr>
          <a:xfrm>
            <a:off x="566928" y="3721608"/>
            <a:ext cx="649224" cy="649224"/>
          </a:xfrm>
          <a:prstGeom prst="roundRect">
            <a:avLst>
              <a:gd name="adj" fmla="val 14085"/>
            </a:avLst>
          </a:prstGeom>
          <a:solidFill>
            <a:schemeClr val="accent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40480"/>
            <a:ext cx="411480" cy="4114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37216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비데 노즐 어셈블리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371600" y="407822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CD8"/>
                </a:solidFill>
              </a:rPr>
              <a:t>품번 DB-N100  |  바로바스 스마트스토어에서 구매 가능</a:t>
            </a:r>
            <a:endParaRPr lang="en-US" sz="1200" dirty="0"/>
          </a:p>
        </p:txBody>
      </p:sp>
      <p:sp>
        <p:nvSpPr>
          <p:cNvPr id="11" name="tag-bg"/>
          <p:cNvSpPr/>
          <p:nvPr/>
        </p:nvSpPr>
        <p:spPr>
          <a:xfrm>
            <a:off x="6583680" y="3611880"/>
            <a:ext cx="2103120" cy="868680"/>
          </a:xfrm>
          <a:prstGeom prst="roundRect">
            <a:avLst>
              <a:gd name="adj" fmla="val 14737"/>
            </a:avLst>
          </a:prstGeom>
          <a:solidFill>
            <a:schemeClr val="accent2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766560" y="37033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STEP 2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6766560" y="399592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노즐 분리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77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수리 완료!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필요한 부품은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바로바스에서 찾으세요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603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CD8"/>
                </a:solidFill>
              </a:rPr>
              <a:t>대림바스·대림통상 비데, 양변기, 소변기, 수전 부속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154680"/>
            <a:ext cx="4206240" cy="548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2918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15568" y="31546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네이버에서 </a:t>
            </a:r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'바로바스'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검색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959352"/>
            <a:ext cx="292608" cy="2926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32688" y="39319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CD8"/>
                </a:solidFill>
              </a:rPr>
              <a:t>구독하고 다른 부품 교체 영상도 확인하세요</a:t>
            </a:r>
            <a:endParaRPr lang="en-US" sz="1300" dirty="0"/>
          </a:p>
        </p:txBody>
      </p:sp>
      <p:sp>
        <p:nvSpPr>
          <p:cNvPr id="10" name="photo"/>
          <p:cNvSpPr/>
          <p:nvPr/>
        </p:nvSpPr>
        <p:spPr>
          <a:xfrm>
            <a:off x="5349240" y="548640"/>
            <a:ext cx="3246120" cy="3886200"/>
          </a:xfrm>
          <a:prstGeom prst="roundRect">
            <a:avLst>
              <a:gd name="adj" fmla="val 3380"/>
            </a:avLst>
          </a:prstGeom>
          <a:solidFill>
            <a:schemeClr val="accent4"/>
          </a:solidFill>
          <a:ln w="15875">
            <a:solidFill>
              <a:srgbClr val="5F8096"/>
            </a:solidFill>
            <a:prstDash val="dash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0" y="2116836"/>
            <a:ext cx="457200" cy="4572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440680" y="261061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B0C4"/>
                </a:solidFill>
              </a:rPr>
              <a:t>대표 부품 또는 완성 사진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robath">
  <a:themeElements>
    <a:clrScheme name="Barobath">
      <a:dk1>
        <a:srgbClr val="1E2A33"/>
      </a:dk1>
      <a:lt1>
        <a:srgbClr val="FFFFFF"/>
      </a:lt1>
      <a:dk2>
        <a:srgbClr val="12324A"/>
      </a:dk2>
      <a:lt2>
        <a:srgbClr val="F4F8FA"/>
      </a:lt2>
      <a:accent1>
        <a:srgbClr val="1FA3B8"/>
      </a:accent1>
      <a:accent2>
        <a:srgbClr val="FFB547"/>
      </a:accent2>
      <a:accent3>
        <a:srgbClr val="E5484D"/>
      </a:accent3>
      <a:accent4>
        <a:srgbClr val="1C4762"/>
      </a:accent4>
      <a:accent5>
        <a:srgbClr val="5D707D"/>
      </a:accent5>
      <a:accent6>
        <a:srgbClr val="E6EDF1"/>
      </a:accent6>
      <a:hlink>
        <a:srgbClr val="1FA3B8"/>
      </a:hlink>
      <a:folHlink>
        <a:srgbClr val="5D707D"/>
      </a:folHlink>
    </a:clrScheme>
    <a:fontScheme name="Barobath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바로바스 부품 안내 카드 템플릿</dc:title>
  <dc:subject>PptxGenJS Presentation</dc:subject>
  <dc:creator>바로바스</dc:creator>
  <cp:lastModifiedBy>바로바스</cp:lastModifiedBy>
  <cp:revision>1</cp:revision>
  <dcterms:created xsi:type="dcterms:W3CDTF">2026-10-15T03:50:25Z</dcterms:created>
  <dcterms:modified xsi:type="dcterms:W3CDTF">2026-10-15T03:50:25Z</dcterms:modified>
</cp:coreProperties>
</file>