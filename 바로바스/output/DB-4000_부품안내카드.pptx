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전체 영상" id="{bfc86015-895b-ef55-203e-664183f6af31}">
          <p14:sldIdLst>
            <p14:sldId id="256"/>
            <p14:sldId id="257"/>
            <p14:sldId id="258"/>
            <p14:sldId id="259"/>
            <p14:sldId id="260"/>
            <p14:sldId id="261"/>
            <p14:sldId id="262"/>
            <p14:sldId id="263"/>
            <p14:sldId id="264"/>
            <p14:sldId id="265"/>
            <p14:sldId id="266"/>
          </p14:sldIdLst>
        </p14:section>
        <p14:section name="부품별 단독 영상" id="{e61f6160-00a9-efa1-2115-87973e8a8f30}">
          <p14:sldIdLst>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DB-4000 비데의 부품별 고장증상과 교체방법에 대해 알아보겠습니다. 먼저 사진을 참고하여 사용하는 비데의 정확한 모델명을 확인해줍니다. 위에 있는 모델들은 판매처나 제조년식에 따라 스티커 색깔과 이름만 다르지 모두 같은 부품을 사용하는 비데입니다. 사용되는 비데의 부품 수가 많아 더보기란에 각 부품별 교체 영상의 시간을 남겨놨으니 원하는 부품의 교체영상을 보시면 됩니다. 해당 모델을 사용하고 계신 분들이면 이 영상을 보고 쉽게 부품 교체를 따라하실 거라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노즐의 역할과 고장증상은 화면에 보이는 내용과 같습니다. 고장증상이 없더라도 위생을 위해 사용하는 비데이니 만큼 3~4년 주기로 한번씩 교체해주는 걸 추천합니다. 노즐모터 수명도 있지만 너무 오래 사용하면 노즐 안에 물곰팡이가 생겨 오히려 안 좋을 수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메인PCB의 역할과 고장증상은 화면에 보이는 내용과 같습니다. 메인PCB 고장의 경우 방치할 경우 다른 부품들까지 쇼트를 내 고장 나게 하는 경우가 있습니다. 위 증상이 생긴다면 전기코드를 뽑고 꼭 부품을 교체 후 사용해주세요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급수부 아세이의 역할과 고장증상은 화면에 보이는 내용과 같습니다. 노즐에서 물이 나오지 않는 경우엔 먼저 비데 호스를 풀러 확인해보세요. 슬라임같은 이물질이 끼어 호스 단계에서 물이 안 나오는 경우도 있습니다. 세정 시 삐~~ 하는 소리가 나는 경우는 진공방지캡 안에 에어가 차서 생기는 공기파공음입니다. 사용상의 문제는 없으나 소리가 점점 심해지니 교체하는 걸 추천합니다. ㄱ자 커넥터 부분이 부러진 경우 그 부분만 부품이 나오지 않으니 아세이로 교체해야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온수탱크의 역할과 고장증상은 화면에 보이는 내용과 같습니다. 온수과열이 아닌 온수가 안 나오는 증상은 온수탱크와 급수부 아세이에 달려 있는 온수센서 2가지 입니다. 온수의 램프등이 아래쪽 1개만 점멸될 때는 온수센서, 3개 모두 점등되거나 아예 안들어올 경우는 온수탱크일 확률이 높으나 100%는 아닙니다. 사용한지 3년 미만인 제품일 때는 교체하기 쉬운 온수센서부터 해보시는 걸 추천합니다.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시트 / 커버의 역할과 고장증상은 화면에 보이는 내용과 같습니다. 시트 / 커버가 파손 됐을 경우 시트를 천천히 떨어지게 잡아주는 댐퍼도 고장나는 경우가 있습니다. 교체 후에도 시트 / 커버가 빠르게 떨어진다면 댐퍼도 바로 교체해주세요. 빠르게 떨어지며 시트 / 커버가 또 깨질 수도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댐퍼의 역할과 고장증상은 화면에 보이는 내용과 같습니다. 댐퍼 고장일 경우 부품 교체를 하지 않으면 시트 / 커버가 빠르게 떨어지며 깨질 수 있으니 그 전에 교체해주세요.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프론트PCB의 역할과 고장증상은 화면에 보이는 내용과 같습니다. 다른 부품 고장과 다른 점은 다른 부품들은 고장나도 작동음이라도 나는데 프론트PCB가 고장나면 아무 반응이 없습니다. 프론트PCB의 주요 고장원인으로는 습기입니다. 새제품의 경우 방수도포제가 발라져 있어 괜찮으나 시간이 지나 말라버리면 스티커 사이로 물이 투과될 수 있으니 물청소를 하게 된다면 꼭 마른수건으로 스티커 부분의 물기를 제거해주세요. 23년 이전에 구매하신 분이라면 지금 프론트PCB와 다르게 얇은 기판만 달려있습니다. 새로운 PCB는 방수기능 보강으로 위해 두껍게 제작되어 교체하실 때 꼭 영상을 참고해주세요.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플로트스위치의 역할과 고장증상은 화면에 보이는 내용과 같습니다. 플로트스위치가 고장나면 온수탱크에 물이 가득 차 있어도 없는 것처럼 인식되기 때문에 노즐만 나오고 아무 반응이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건조드라이의 역할과 고장증상은 화면에 보이는 내용과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교체가 끝났다면 급수 밸브를 다시 열고 전원 플러그를 꽂은 뒤, 정상적으로 작동하는지 확인해 주세요. 필요한 부품은 네이버에서 바로바스를 검색하시면 구매하실 수 있습니다. 도움이 되셨다면 구독과 좋아요 부탁드려요.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노즐 교체 방법을 알려드릴게요. 먼저 어떤 증상이 있을 때 노즐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메인PCB 교체 방법을 알려드릴게요. 먼저 어떤 증상이 있을 때 메인PCB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급수부 아세이 교체 방법을 알려드릴게요. 먼저 어떤 증상이 있을 때 급수부 아세이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온수탱크 교체 방법을 알려드릴게요. 먼저 어떤 증상이 있을 때 온수탱크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시트 / 커버(리드) 교체 방법을 알려드릴게요. 먼저 어떤 증상이 있을 때 시트 / 커버(리드)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시트·커버 댐퍼 교체 방법을 알려드릴게요. 먼저 어떤 증상이 있을 때 시트·커버 댐퍼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프론트PCB 교체 방법을 알려드릴게요. 먼저 어떤 증상이 있을 때 프론트PCB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플로트스위치 교체 방법을 알려드릴게요. 먼저 어떤 증상이 있을 때 플로트스위치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[나레이션]
안녕하세요, 바로바스입니다. 이번 영상에서는 대림바스 DB-4000 비데의 건조드라이 교체 방법을 알려드릴게요. 먼저 어떤 증상이 있을 때 건조드라이 교체가 필요한지부터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8F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24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4572000" cy="292608"/>
          </a:xfrm>
          <a:prstGeom prst="rect">
            <a:avLst/>
          </a:prstGeom>
          <a:noFill/>
          <a:ln/>
        </p:spPr>
        <p:txBody>
          <a:bodyPr wrap="square" lIns="0" tIns="0" rIns="0" bIns="0" rtlCol="0" anchor="ctr"/>
          <a:lstStyle/>
          <a:p>
            <a:pPr indent="0" marL="0">
              <a:buNone/>
            </a:pPr>
            <a:r>
              <a:rPr lang="en-US" sz="1400" b="1" dirty="0">
                <a:solidFill>
                  <a:schemeClr val="accent1"/>
                </a:solidFill>
              </a:rPr>
              <a:t>대림바스 비데</a:t>
            </a:r>
            <a:endParaRPr lang="en-US" sz="1400" dirty="0"/>
          </a:p>
        </p:txBody>
      </p:sp>
      <p:sp>
        <p:nvSpPr>
          <p:cNvPr id="3" name="Text 1"/>
          <p:cNvSpPr txBox="1"/>
          <p:nvPr/>
        </p:nvSpPr>
        <p:spPr>
          <a:xfrm>
            <a:off x="548640" y="749808"/>
            <a:ext cx="4572000" cy="731520"/>
          </a:xfrm>
          <a:prstGeom prst="rect">
            <a:avLst/>
          </a:prstGeom>
          <a:noFill/>
          <a:ln/>
        </p:spPr>
        <p:txBody>
          <a:bodyPr wrap="square" lIns="0" tIns="0" rIns="0" bIns="0" rtlCol="0" anchor="ctr"/>
          <a:lstStyle/>
          <a:p>
            <a:pPr indent="0" marL="0">
              <a:buNone/>
            </a:pPr>
            <a:r>
              <a:rPr lang="en-US" sz="4400" b="1" dirty="0">
                <a:solidFill>
                  <a:schemeClr val="bg1"/>
                </a:solidFill>
              </a:rPr>
              <a:t>DB-4000</a:t>
            </a:r>
            <a:endParaRPr lang="en-US" sz="4400" dirty="0"/>
          </a:p>
        </p:txBody>
      </p:sp>
      <p:pic>
        <p:nvPicPr>
          <p:cNvPr id="4" name="Image 0" descr="preencoded.png">    </p:cNvPr>
          <p:cNvPicPr>
            <a:picLocks noChangeAspect="1"/>
          </p:cNvPicPr>
          <p:nvPr/>
        </p:nvPicPr>
        <p:blipFill>
          <a:blip r:embed="rId1"/>
          <a:stretch>
            <a:fillRect/>
          </a:stretch>
        </p:blipFill>
        <p:spPr>
          <a:xfrm>
            <a:off x="548640" y="1691640"/>
            <a:ext cx="237744" cy="237744"/>
          </a:xfrm>
          <a:prstGeom prst="rect">
            <a:avLst/>
          </a:prstGeom>
        </p:spPr>
      </p:pic>
      <p:sp>
        <p:nvSpPr>
          <p:cNvPr id="5" name="Text 2"/>
          <p:cNvSpPr txBox="1"/>
          <p:nvPr/>
        </p:nvSpPr>
        <p:spPr>
          <a:xfrm>
            <a:off x="868680" y="1645920"/>
            <a:ext cx="2743200" cy="329184"/>
          </a:xfrm>
          <a:prstGeom prst="rect">
            <a:avLst/>
          </a:prstGeom>
          <a:noFill/>
          <a:ln/>
        </p:spPr>
        <p:txBody>
          <a:bodyPr wrap="square" lIns="0" tIns="0" rIns="0" bIns="0" rtlCol="0" anchor="ctr"/>
          <a:lstStyle/>
          <a:p>
            <a:pPr indent="0" marL="0">
              <a:buNone/>
            </a:pPr>
            <a:r>
              <a:rPr lang="en-US" sz="1600" b="1" dirty="0">
                <a:solidFill>
                  <a:schemeClr val="bg1"/>
                </a:solidFill>
              </a:rPr>
              <a:t>호환 모델</a:t>
            </a:r>
            <a:endParaRPr lang="en-US" sz="1600" dirty="0"/>
          </a:p>
        </p:txBody>
      </p:sp>
      <p:sp>
        <p:nvSpPr>
          <p:cNvPr id="6" name="모델 칸"/>
          <p:cNvSpPr/>
          <p:nvPr/>
        </p:nvSpPr>
        <p:spPr>
          <a:xfrm>
            <a:off x="548640" y="2103120"/>
            <a:ext cx="1463040" cy="374904"/>
          </a:xfrm>
          <a:prstGeom prst="roundRect">
            <a:avLst>
              <a:gd name="adj" fmla="val 19512"/>
            </a:avLst>
          </a:prstGeom>
          <a:solidFill>
            <a:schemeClr val="accent4"/>
          </a:solidFill>
          <a:ln/>
        </p:spPr>
      </p:sp>
      <p:sp>
        <p:nvSpPr>
          <p:cNvPr id="7" name="Text 4"/>
          <p:cNvSpPr txBox="1"/>
          <p:nvPr/>
        </p:nvSpPr>
        <p:spPr>
          <a:xfrm>
            <a:off x="594360" y="2103120"/>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DB-4000E</a:t>
            </a:r>
            <a:endParaRPr lang="en-US" sz="1400" dirty="0"/>
          </a:p>
        </p:txBody>
      </p:sp>
      <p:sp>
        <p:nvSpPr>
          <p:cNvPr id="8" name="모델 칸"/>
          <p:cNvSpPr/>
          <p:nvPr/>
        </p:nvSpPr>
        <p:spPr>
          <a:xfrm>
            <a:off x="2103120" y="2103120"/>
            <a:ext cx="1463040" cy="374904"/>
          </a:xfrm>
          <a:prstGeom prst="roundRect">
            <a:avLst>
              <a:gd name="adj" fmla="val 19512"/>
            </a:avLst>
          </a:prstGeom>
          <a:solidFill>
            <a:schemeClr val="accent4"/>
          </a:solidFill>
          <a:ln/>
        </p:spPr>
      </p:sp>
      <p:sp>
        <p:nvSpPr>
          <p:cNvPr id="9" name="Text 6"/>
          <p:cNvSpPr txBox="1"/>
          <p:nvPr/>
        </p:nvSpPr>
        <p:spPr>
          <a:xfrm>
            <a:off x="2148840" y="2103120"/>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DB-4100</a:t>
            </a:r>
            <a:endParaRPr lang="en-US" sz="1400" dirty="0"/>
          </a:p>
        </p:txBody>
      </p:sp>
      <p:sp>
        <p:nvSpPr>
          <p:cNvPr id="10" name="모델 칸"/>
          <p:cNvSpPr/>
          <p:nvPr/>
        </p:nvSpPr>
        <p:spPr>
          <a:xfrm>
            <a:off x="3657600" y="2103120"/>
            <a:ext cx="1463040" cy="374904"/>
          </a:xfrm>
          <a:prstGeom prst="roundRect">
            <a:avLst>
              <a:gd name="adj" fmla="val 19512"/>
            </a:avLst>
          </a:prstGeom>
          <a:solidFill>
            <a:schemeClr val="accent4"/>
          </a:solidFill>
          <a:ln/>
        </p:spPr>
      </p:sp>
      <p:sp>
        <p:nvSpPr>
          <p:cNvPr id="11" name="Text 8"/>
          <p:cNvSpPr txBox="1"/>
          <p:nvPr/>
        </p:nvSpPr>
        <p:spPr>
          <a:xfrm>
            <a:off x="3703320" y="2103120"/>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DB-4101</a:t>
            </a:r>
            <a:endParaRPr lang="en-US" sz="1400" dirty="0"/>
          </a:p>
        </p:txBody>
      </p:sp>
      <p:sp>
        <p:nvSpPr>
          <p:cNvPr id="12" name="모델 칸"/>
          <p:cNvSpPr/>
          <p:nvPr/>
        </p:nvSpPr>
        <p:spPr>
          <a:xfrm>
            <a:off x="548640" y="2569464"/>
            <a:ext cx="1463040" cy="374904"/>
          </a:xfrm>
          <a:prstGeom prst="roundRect">
            <a:avLst>
              <a:gd name="adj" fmla="val 19512"/>
            </a:avLst>
          </a:prstGeom>
          <a:solidFill>
            <a:schemeClr val="accent4"/>
          </a:solidFill>
          <a:ln/>
        </p:spPr>
      </p:sp>
      <p:sp>
        <p:nvSpPr>
          <p:cNvPr id="13" name="Text 10"/>
          <p:cNvSpPr txBox="1"/>
          <p:nvPr/>
        </p:nvSpPr>
        <p:spPr>
          <a:xfrm>
            <a:off x="594360" y="2569464"/>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DB-4110</a:t>
            </a:r>
            <a:endParaRPr lang="en-US" sz="1400" dirty="0"/>
          </a:p>
        </p:txBody>
      </p:sp>
      <p:sp>
        <p:nvSpPr>
          <p:cNvPr id="14" name="모델 칸"/>
          <p:cNvSpPr/>
          <p:nvPr/>
        </p:nvSpPr>
        <p:spPr>
          <a:xfrm>
            <a:off x="2103120" y="2569464"/>
            <a:ext cx="1463040" cy="374904"/>
          </a:xfrm>
          <a:prstGeom prst="roundRect">
            <a:avLst>
              <a:gd name="adj" fmla="val 19512"/>
            </a:avLst>
          </a:prstGeom>
          <a:solidFill>
            <a:schemeClr val="accent4"/>
          </a:solidFill>
          <a:ln/>
        </p:spPr>
      </p:sp>
      <p:sp>
        <p:nvSpPr>
          <p:cNvPr id="15" name="Text 12"/>
          <p:cNvSpPr txBox="1"/>
          <p:nvPr/>
        </p:nvSpPr>
        <p:spPr>
          <a:xfrm>
            <a:off x="2148840" y="2569464"/>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DB-4111</a:t>
            </a:r>
            <a:endParaRPr lang="en-US" sz="1400" dirty="0"/>
          </a:p>
        </p:txBody>
      </p:sp>
      <p:sp>
        <p:nvSpPr>
          <p:cNvPr id="16" name="모델 칸"/>
          <p:cNvSpPr/>
          <p:nvPr/>
        </p:nvSpPr>
        <p:spPr>
          <a:xfrm>
            <a:off x="3657600" y="2569464"/>
            <a:ext cx="1463040" cy="374904"/>
          </a:xfrm>
          <a:prstGeom prst="roundRect">
            <a:avLst>
              <a:gd name="adj" fmla="val 19512"/>
            </a:avLst>
          </a:prstGeom>
          <a:solidFill>
            <a:schemeClr val="accent4"/>
          </a:solidFill>
          <a:ln/>
        </p:spPr>
      </p:sp>
      <p:sp>
        <p:nvSpPr>
          <p:cNvPr id="17" name="Text 14"/>
          <p:cNvSpPr txBox="1"/>
          <p:nvPr/>
        </p:nvSpPr>
        <p:spPr>
          <a:xfrm>
            <a:off x="3703320" y="2569464"/>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DB-4120</a:t>
            </a:r>
            <a:endParaRPr lang="en-US" sz="1400" dirty="0"/>
          </a:p>
        </p:txBody>
      </p:sp>
      <p:sp>
        <p:nvSpPr>
          <p:cNvPr id="18" name="모델 칸"/>
          <p:cNvSpPr/>
          <p:nvPr/>
        </p:nvSpPr>
        <p:spPr>
          <a:xfrm>
            <a:off x="548640" y="3035808"/>
            <a:ext cx="1463040" cy="374904"/>
          </a:xfrm>
          <a:prstGeom prst="roundRect">
            <a:avLst>
              <a:gd name="adj" fmla="val 19512"/>
            </a:avLst>
          </a:prstGeom>
          <a:solidFill>
            <a:schemeClr val="accent4"/>
          </a:solidFill>
          <a:ln/>
        </p:spPr>
      </p:sp>
      <p:sp>
        <p:nvSpPr>
          <p:cNvPr id="19" name="Text 16"/>
          <p:cNvSpPr txBox="1"/>
          <p:nvPr/>
        </p:nvSpPr>
        <p:spPr>
          <a:xfrm>
            <a:off x="594360" y="3035808"/>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DB-4121</a:t>
            </a:r>
            <a:endParaRPr lang="en-US" sz="1400" dirty="0"/>
          </a:p>
        </p:txBody>
      </p:sp>
      <p:sp>
        <p:nvSpPr>
          <p:cNvPr id="20" name="모델 칸"/>
          <p:cNvSpPr/>
          <p:nvPr/>
        </p:nvSpPr>
        <p:spPr>
          <a:xfrm>
            <a:off x="2103120" y="3035808"/>
            <a:ext cx="1463040" cy="374904"/>
          </a:xfrm>
          <a:prstGeom prst="roundRect">
            <a:avLst>
              <a:gd name="adj" fmla="val 19512"/>
            </a:avLst>
          </a:prstGeom>
          <a:solidFill>
            <a:schemeClr val="accent4"/>
          </a:solidFill>
          <a:ln/>
        </p:spPr>
      </p:sp>
      <p:sp>
        <p:nvSpPr>
          <p:cNvPr id="21" name="Text 18"/>
          <p:cNvSpPr txBox="1"/>
          <p:nvPr/>
        </p:nvSpPr>
        <p:spPr>
          <a:xfrm>
            <a:off x="2148840" y="3035808"/>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DB-4201</a:t>
            </a:r>
            <a:endParaRPr lang="en-US" sz="1400" dirty="0"/>
          </a:p>
        </p:txBody>
      </p:sp>
      <p:sp>
        <p:nvSpPr>
          <p:cNvPr id="22" name="모델 칸"/>
          <p:cNvSpPr/>
          <p:nvPr/>
        </p:nvSpPr>
        <p:spPr>
          <a:xfrm>
            <a:off x="3657600" y="3035808"/>
            <a:ext cx="1463040" cy="374904"/>
          </a:xfrm>
          <a:prstGeom prst="roundRect">
            <a:avLst>
              <a:gd name="adj" fmla="val 19512"/>
            </a:avLst>
          </a:prstGeom>
          <a:solidFill>
            <a:schemeClr val="accent4"/>
          </a:solidFill>
          <a:ln/>
        </p:spPr>
      </p:sp>
      <p:sp>
        <p:nvSpPr>
          <p:cNvPr id="23" name="Text 20"/>
          <p:cNvSpPr txBox="1"/>
          <p:nvPr/>
        </p:nvSpPr>
        <p:spPr>
          <a:xfrm>
            <a:off x="3703320" y="3035808"/>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DB-4210</a:t>
            </a:r>
            <a:endParaRPr lang="en-US" sz="1400" dirty="0"/>
          </a:p>
        </p:txBody>
      </p:sp>
      <p:sp>
        <p:nvSpPr>
          <p:cNvPr id="24" name="모델 칸"/>
          <p:cNvSpPr/>
          <p:nvPr/>
        </p:nvSpPr>
        <p:spPr>
          <a:xfrm>
            <a:off x="548640" y="3502152"/>
            <a:ext cx="1463040" cy="374904"/>
          </a:xfrm>
          <a:prstGeom prst="roundRect">
            <a:avLst>
              <a:gd name="adj" fmla="val 19512"/>
            </a:avLst>
          </a:prstGeom>
          <a:solidFill>
            <a:schemeClr val="accent4"/>
          </a:solidFill>
          <a:ln/>
        </p:spPr>
      </p:sp>
      <p:sp>
        <p:nvSpPr>
          <p:cNvPr id="25" name="Text 22"/>
          <p:cNvSpPr txBox="1"/>
          <p:nvPr/>
        </p:nvSpPr>
        <p:spPr>
          <a:xfrm>
            <a:off x="594360" y="3502152"/>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DB-4211</a:t>
            </a:r>
            <a:endParaRPr lang="en-US" sz="1400" dirty="0"/>
          </a:p>
        </p:txBody>
      </p:sp>
      <p:sp>
        <p:nvSpPr>
          <p:cNvPr id="26" name="모델 칸"/>
          <p:cNvSpPr/>
          <p:nvPr/>
        </p:nvSpPr>
        <p:spPr>
          <a:xfrm>
            <a:off x="2103120" y="3502152"/>
            <a:ext cx="1463040" cy="374904"/>
          </a:xfrm>
          <a:prstGeom prst="roundRect">
            <a:avLst>
              <a:gd name="adj" fmla="val 19512"/>
            </a:avLst>
          </a:prstGeom>
          <a:solidFill>
            <a:schemeClr val="accent4"/>
          </a:solidFill>
          <a:ln/>
        </p:spPr>
      </p:sp>
      <p:sp>
        <p:nvSpPr>
          <p:cNvPr id="27" name="Text 24"/>
          <p:cNvSpPr txBox="1"/>
          <p:nvPr/>
        </p:nvSpPr>
        <p:spPr>
          <a:xfrm>
            <a:off x="2148840" y="3502152"/>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DB-4300</a:t>
            </a:r>
            <a:endParaRPr lang="en-US" sz="1400" dirty="0"/>
          </a:p>
        </p:txBody>
      </p:sp>
      <p:sp>
        <p:nvSpPr>
          <p:cNvPr id="28" name="모델 칸"/>
          <p:cNvSpPr/>
          <p:nvPr/>
        </p:nvSpPr>
        <p:spPr>
          <a:xfrm>
            <a:off x="3657600" y="3502152"/>
            <a:ext cx="1463040" cy="374904"/>
          </a:xfrm>
          <a:prstGeom prst="roundRect">
            <a:avLst>
              <a:gd name="adj" fmla="val 19512"/>
            </a:avLst>
          </a:prstGeom>
          <a:solidFill>
            <a:schemeClr val="accent4"/>
          </a:solidFill>
          <a:ln/>
        </p:spPr>
      </p:sp>
      <p:sp>
        <p:nvSpPr>
          <p:cNvPr id="29" name="Text 26"/>
          <p:cNvSpPr txBox="1"/>
          <p:nvPr/>
        </p:nvSpPr>
        <p:spPr>
          <a:xfrm>
            <a:off x="3703320" y="3502152"/>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DLB-712</a:t>
            </a:r>
            <a:endParaRPr lang="en-US" sz="1400" dirty="0"/>
          </a:p>
        </p:txBody>
      </p:sp>
      <p:sp>
        <p:nvSpPr>
          <p:cNvPr id="30" name="모델 칸"/>
          <p:cNvSpPr/>
          <p:nvPr/>
        </p:nvSpPr>
        <p:spPr>
          <a:xfrm>
            <a:off x="548640" y="3968496"/>
            <a:ext cx="1463040" cy="374904"/>
          </a:xfrm>
          <a:prstGeom prst="roundRect">
            <a:avLst>
              <a:gd name="adj" fmla="val 19512"/>
            </a:avLst>
          </a:prstGeom>
          <a:solidFill>
            <a:schemeClr val="accent4"/>
          </a:solidFill>
          <a:ln/>
        </p:spPr>
      </p:sp>
      <p:sp>
        <p:nvSpPr>
          <p:cNvPr id="31" name="Text 28"/>
          <p:cNvSpPr txBox="1"/>
          <p:nvPr/>
        </p:nvSpPr>
        <p:spPr>
          <a:xfrm>
            <a:off x="594360" y="3968496"/>
            <a:ext cx="1371600" cy="374904"/>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DLB-722</a:t>
            </a:r>
            <a:endParaRPr lang="en-US" sz="1400" dirty="0"/>
          </a:p>
        </p:txBody>
      </p:sp>
      <p:pic>
        <p:nvPicPr>
          <p:cNvPr id="32" name="Image 1" descr="preencoded.png">    </p:cNvPr>
          <p:cNvPicPr>
            <a:picLocks noChangeAspect="1"/>
          </p:cNvPicPr>
          <p:nvPr/>
        </p:nvPicPr>
        <p:blipFill>
          <a:blip r:embed="rId2"/>
          <a:stretch>
            <a:fillRect/>
          </a:stretch>
        </p:blipFill>
        <p:spPr>
          <a:xfrm>
            <a:off x="548640" y="4572000"/>
            <a:ext cx="182880" cy="182880"/>
          </a:xfrm>
          <a:prstGeom prst="rect">
            <a:avLst/>
          </a:prstGeom>
        </p:spPr>
      </p:pic>
      <p:sp>
        <p:nvSpPr>
          <p:cNvPr id="33" name="Text 29"/>
          <p:cNvSpPr txBox="1"/>
          <p:nvPr/>
        </p:nvSpPr>
        <p:spPr>
          <a:xfrm>
            <a:off x="804672" y="4507992"/>
            <a:ext cx="4389120" cy="365760"/>
          </a:xfrm>
          <a:prstGeom prst="rect">
            <a:avLst/>
          </a:prstGeom>
          <a:noFill/>
          <a:ln/>
        </p:spPr>
        <p:txBody>
          <a:bodyPr wrap="square" lIns="0" tIns="0" rIns="0" bIns="0" rtlCol="0" anchor="ctr"/>
          <a:lstStyle/>
          <a:p>
            <a:pPr indent="0" marL="0">
              <a:buNone/>
            </a:pPr>
            <a:r>
              <a:rPr lang="en-US" sz="1100" dirty="0">
                <a:solidFill>
                  <a:srgbClr val="B8CCD8"/>
                </a:solidFill>
              </a:rPr>
              <a:t>판매처·제조년식에 따라 스티커 색과 이름만 다를 뿐, 모두 같은 부품을 사용해요</a:t>
            </a:r>
            <a:endParaRPr lang="en-US" sz="1100" dirty="0"/>
          </a:p>
        </p:txBody>
      </p:sp>
      <p:sp>
        <p:nvSpPr>
          <p:cNvPr id="34" name="사진 자리"/>
          <p:cNvSpPr/>
          <p:nvPr/>
        </p:nvSpPr>
        <p:spPr>
          <a:xfrm>
            <a:off x="5349240" y="457200"/>
            <a:ext cx="3291840" cy="1965960"/>
          </a:xfrm>
          <a:prstGeom prst="roundRect">
            <a:avLst>
              <a:gd name="adj" fmla="val 5581"/>
            </a:avLst>
          </a:prstGeom>
          <a:solidFill>
            <a:schemeClr val="accent4"/>
          </a:solidFill>
          <a:ln w="15875">
            <a:solidFill>
              <a:srgbClr val="5F8096"/>
            </a:solidFill>
            <a:prstDash val="dash"/>
          </a:ln>
        </p:spPr>
      </p:sp>
      <p:pic>
        <p:nvPicPr>
          <p:cNvPr id="35" name="Image 2" descr="preencoded.png">    </p:cNvPr>
          <p:cNvPicPr>
            <a:picLocks noChangeAspect="1"/>
          </p:cNvPicPr>
          <p:nvPr/>
        </p:nvPicPr>
        <p:blipFill>
          <a:blip r:embed="rId3"/>
          <a:stretch>
            <a:fillRect/>
          </a:stretch>
        </p:blipFill>
        <p:spPr>
          <a:xfrm>
            <a:off x="6766560" y="1065276"/>
            <a:ext cx="457200" cy="457200"/>
          </a:xfrm>
          <a:prstGeom prst="rect">
            <a:avLst/>
          </a:prstGeom>
        </p:spPr>
      </p:pic>
      <p:sp>
        <p:nvSpPr>
          <p:cNvPr id="36" name="Text 31"/>
          <p:cNvSpPr txBox="1"/>
          <p:nvPr/>
        </p:nvSpPr>
        <p:spPr>
          <a:xfrm>
            <a:off x="5440680" y="155905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DB-4000 제품 사진</a:t>
            </a:r>
            <a:endParaRPr lang="en-US" sz="1000" dirty="0"/>
          </a:p>
        </p:txBody>
      </p:sp>
      <p:sp>
        <p:nvSpPr>
          <p:cNvPr id="37" name="사진 자리"/>
          <p:cNvSpPr/>
          <p:nvPr/>
        </p:nvSpPr>
        <p:spPr>
          <a:xfrm>
            <a:off x="5349240" y="2560320"/>
            <a:ext cx="3291840" cy="1965960"/>
          </a:xfrm>
          <a:prstGeom prst="roundRect">
            <a:avLst>
              <a:gd name="adj" fmla="val 5581"/>
            </a:avLst>
          </a:prstGeom>
          <a:solidFill>
            <a:schemeClr val="accent4"/>
          </a:solidFill>
          <a:ln w="15875">
            <a:solidFill>
              <a:srgbClr val="5F8096"/>
            </a:solidFill>
            <a:prstDash val="dash"/>
          </a:ln>
        </p:spPr>
      </p:sp>
      <p:pic>
        <p:nvPicPr>
          <p:cNvPr id="38" name="Image 3" descr="preencoded.png">    </p:cNvPr>
          <p:cNvPicPr>
            <a:picLocks noChangeAspect="1"/>
          </p:cNvPicPr>
          <p:nvPr/>
        </p:nvPicPr>
        <p:blipFill>
          <a:blip r:embed="rId4"/>
          <a:stretch>
            <a:fillRect/>
          </a:stretch>
        </p:blipFill>
        <p:spPr>
          <a:xfrm>
            <a:off x="6766560" y="3168396"/>
            <a:ext cx="457200" cy="457200"/>
          </a:xfrm>
          <a:prstGeom prst="rect">
            <a:avLst/>
          </a:prstGeom>
        </p:spPr>
      </p:pic>
      <p:sp>
        <p:nvSpPr>
          <p:cNvPr id="39" name="Text 33"/>
          <p:cNvSpPr txBox="1"/>
          <p:nvPr/>
        </p:nvSpPr>
        <p:spPr>
          <a:xfrm>
            <a:off x="5440680" y="366217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모델명 확인 위치 (라벨) 사진</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번호 1"/>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01</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노즐</a:t>
            </a:r>
            <a:endParaRPr lang="en-US" sz="2800" dirty="0"/>
          </a:p>
        </p:txBody>
      </p:sp>
      <p:sp>
        <p:nvSpPr>
          <p:cNvPr id="6" name="역할"/>
          <p:cNvSpPr/>
          <p:nvPr/>
        </p:nvSpPr>
        <p:spPr>
          <a:xfrm>
            <a:off x="457200" y="1554480"/>
            <a:ext cx="5120640" cy="430784"/>
          </a:xfrm>
          <a:prstGeom prst="roundRect">
            <a:avLst>
              <a:gd name="adj" fmla="val 21226"/>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211328"/>
          </a:xfrm>
          <a:prstGeom prst="rect">
            <a:avLst/>
          </a:prstGeom>
          <a:noFill/>
          <a:ln/>
        </p:spPr>
        <p:txBody>
          <a:bodyPr wrap="square" lIns="0" tIns="0" rIns="0" bIns="0" rtlCol="0" anchor="ctr"/>
          <a:lstStyle/>
          <a:p>
            <a:pPr indent="0" marL="0">
              <a:buNone/>
            </a:pPr>
            <a:r>
              <a:rPr lang="en-US" sz="1300" dirty="0">
                <a:solidFill>
                  <a:schemeClr val="tx1"/>
                </a:solidFill>
              </a:rPr>
              <a:t>세정 시 엉덩이쪽으로 물을 분사해준다.</a:t>
            </a:r>
            <a:endParaRPr lang="en-US" sz="1300" dirty="0"/>
          </a:p>
        </p:txBody>
      </p:sp>
      <p:pic>
        <p:nvPicPr>
          <p:cNvPr id="10" name="Image 0" descr="preencoded.png">    </p:cNvPr>
          <p:cNvPicPr>
            <a:picLocks noChangeAspect="1"/>
          </p:cNvPicPr>
          <p:nvPr/>
        </p:nvPicPr>
        <p:blipFill>
          <a:blip r:embed="rId1"/>
          <a:stretch>
            <a:fillRect/>
          </a:stretch>
        </p:blipFill>
        <p:spPr>
          <a:xfrm>
            <a:off x="457200" y="2213864"/>
            <a:ext cx="237744" cy="237744"/>
          </a:xfrm>
          <a:prstGeom prst="rect">
            <a:avLst/>
          </a:prstGeom>
        </p:spPr>
      </p:pic>
      <p:sp>
        <p:nvSpPr>
          <p:cNvPr id="11" name="Text 8"/>
          <p:cNvSpPr txBox="1"/>
          <p:nvPr/>
        </p:nvSpPr>
        <p:spPr>
          <a:xfrm>
            <a:off x="777240" y="2168144"/>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588768"/>
            <a:ext cx="5120640" cy="503936"/>
          </a:xfrm>
          <a:prstGeom prst="roundRect">
            <a:avLst>
              <a:gd name="adj" fmla="val 18145"/>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731008"/>
            <a:ext cx="219456" cy="219456"/>
          </a:xfrm>
          <a:prstGeom prst="rect">
            <a:avLst/>
          </a:prstGeom>
        </p:spPr>
      </p:pic>
      <p:sp>
        <p:nvSpPr>
          <p:cNvPr id="14" name="Text 10"/>
          <p:cNvSpPr txBox="1"/>
          <p:nvPr/>
        </p:nvSpPr>
        <p:spPr>
          <a:xfrm>
            <a:off x="932688" y="2588768"/>
            <a:ext cx="4480560" cy="503936"/>
          </a:xfrm>
          <a:prstGeom prst="rect">
            <a:avLst/>
          </a:prstGeom>
          <a:noFill/>
          <a:ln/>
        </p:spPr>
        <p:txBody>
          <a:bodyPr wrap="square" lIns="0" tIns="0" rIns="0" bIns="0" rtlCol="0" anchor="ctr"/>
          <a:lstStyle/>
          <a:p>
            <a:pPr indent="0" marL="0">
              <a:buNone/>
            </a:pPr>
            <a:r>
              <a:rPr lang="en-US" sz="1100" dirty="0">
                <a:solidFill>
                  <a:schemeClr val="tx1"/>
                </a:solidFill>
              </a:rPr>
              <a:t>세정 시 노즐은 나오나 물이 위로 나오지 않고 아래로 흐르는 경우</a:t>
            </a:r>
            <a:endParaRPr lang="en-US" sz="1100" dirty="0"/>
          </a:p>
        </p:txBody>
      </p:sp>
      <p:sp>
        <p:nvSpPr>
          <p:cNvPr id="15" name="증상"/>
          <p:cNvSpPr/>
          <p:nvPr/>
        </p:nvSpPr>
        <p:spPr>
          <a:xfrm>
            <a:off x="457200" y="3165856"/>
            <a:ext cx="5120640" cy="682752"/>
          </a:xfrm>
          <a:prstGeom prst="roundRect">
            <a:avLst>
              <a:gd name="adj" fmla="val 13393"/>
            </a:avLst>
          </a:prstGeom>
          <a:solidFill>
            <a:schemeClr val="bg1"/>
          </a:solidFill>
          <a:ln/>
          <a:effectLst>
            <a:outerShdw sx="100000" sy="100000" kx="0" ky="0" algn="bl" rotWithShape="0" blurRad="101600" dist="25400" dir="5400000">
              <a:srgbClr val="12324A">
                <a:alpha val="10000"/>
              </a:srgbClr>
            </a:outerShdw>
          </a:effectLst>
        </p:spPr>
      </p:sp>
      <p:pic>
        <p:nvPicPr>
          <p:cNvPr id="16" name="Image 2" descr="preencoded.png">    </p:cNvPr>
          <p:cNvPicPr>
            <a:picLocks noChangeAspect="1"/>
          </p:cNvPicPr>
          <p:nvPr/>
        </p:nvPicPr>
        <p:blipFill>
          <a:blip r:embed="rId3"/>
          <a:stretch>
            <a:fillRect/>
          </a:stretch>
        </p:blipFill>
        <p:spPr>
          <a:xfrm>
            <a:off x="594360" y="3397504"/>
            <a:ext cx="219456" cy="219456"/>
          </a:xfrm>
          <a:prstGeom prst="rect">
            <a:avLst/>
          </a:prstGeom>
        </p:spPr>
      </p:pic>
      <p:sp>
        <p:nvSpPr>
          <p:cNvPr id="17" name="Text 12"/>
          <p:cNvSpPr txBox="1"/>
          <p:nvPr/>
        </p:nvSpPr>
        <p:spPr>
          <a:xfrm>
            <a:off x="932688" y="3165856"/>
            <a:ext cx="4480560" cy="682752"/>
          </a:xfrm>
          <a:prstGeom prst="rect">
            <a:avLst/>
          </a:prstGeom>
          <a:noFill/>
          <a:ln/>
        </p:spPr>
        <p:txBody>
          <a:bodyPr wrap="square" lIns="0" tIns="0" rIns="0" bIns="0" rtlCol="0" anchor="ctr"/>
          <a:lstStyle/>
          <a:p>
            <a:pPr indent="0" marL="0">
              <a:buNone/>
            </a:pPr>
            <a:r>
              <a:rPr lang="en-US" sz="1100" dirty="0">
                <a:solidFill>
                  <a:schemeClr val="tx1"/>
                </a:solidFill>
              </a:rPr>
              <a:t>정지 시 노즐에서 나오던 물이 멈추고 들어가야 되는데 물을 쏘는 채로 들어가고 안에 들어가서도 계속 물이 나오는 경우</a:t>
            </a:r>
            <a:endParaRPr lang="en-US" sz="1100" dirty="0"/>
          </a:p>
        </p:txBody>
      </p:sp>
      <p:sp>
        <p:nvSpPr>
          <p:cNvPr id="18" name="증상"/>
          <p:cNvSpPr/>
          <p:nvPr/>
        </p:nvSpPr>
        <p:spPr>
          <a:xfrm>
            <a:off x="457200" y="3921760"/>
            <a:ext cx="5120640" cy="503936"/>
          </a:xfrm>
          <a:prstGeom prst="roundRect">
            <a:avLst>
              <a:gd name="adj" fmla="val 18145"/>
            </a:avLst>
          </a:prstGeom>
          <a:solidFill>
            <a:schemeClr val="bg1"/>
          </a:solidFill>
          <a:ln/>
          <a:effectLst>
            <a:outerShdw sx="100000" sy="100000" kx="0" ky="0" algn="bl" rotWithShape="0" blurRad="101600" dist="25400" dir="5400000">
              <a:srgbClr val="12324A">
                <a:alpha val="10000"/>
              </a:srgbClr>
            </a:outerShdw>
          </a:effectLst>
        </p:spPr>
      </p:sp>
      <p:pic>
        <p:nvPicPr>
          <p:cNvPr id="19" name="Image 3" descr="preencoded.png">    </p:cNvPr>
          <p:cNvPicPr>
            <a:picLocks noChangeAspect="1"/>
          </p:cNvPicPr>
          <p:nvPr/>
        </p:nvPicPr>
        <p:blipFill>
          <a:blip r:embed="rId4"/>
          <a:stretch>
            <a:fillRect/>
          </a:stretch>
        </p:blipFill>
        <p:spPr>
          <a:xfrm>
            <a:off x="594360" y="4064000"/>
            <a:ext cx="219456" cy="219456"/>
          </a:xfrm>
          <a:prstGeom prst="rect">
            <a:avLst/>
          </a:prstGeom>
        </p:spPr>
      </p:pic>
      <p:sp>
        <p:nvSpPr>
          <p:cNvPr id="20" name="Text 14"/>
          <p:cNvSpPr txBox="1"/>
          <p:nvPr/>
        </p:nvSpPr>
        <p:spPr>
          <a:xfrm>
            <a:off x="932688" y="3921760"/>
            <a:ext cx="4480560" cy="503936"/>
          </a:xfrm>
          <a:prstGeom prst="rect">
            <a:avLst/>
          </a:prstGeom>
          <a:noFill/>
          <a:ln/>
        </p:spPr>
        <p:txBody>
          <a:bodyPr wrap="square" lIns="0" tIns="0" rIns="0" bIns="0" rtlCol="0" anchor="ctr"/>
          <a:lstStyle/>
          <a:p>
            <a:pPr indent="0" marL="0">
              <a:buNone/>
            </a:pPr>
            <a:r>
              <a:rPr lang="en-US" sz="1100" dirty="0">
                <a:solidFill>
                  <a:schemeClr val="tx1"/>
                </a:solidFill>
              </a:rPr>
              <a:t>세정 시 노즐 모터소리는 들리나 나오지 않거나 반만 나와서 멈추는 경우</a:t>
            </a:r>
            <a:endParaRPr lang="en-US" sz="1100" dirty="0"/>
          </a:p>
        </p:txBody>
      </p:sp>
      <p:sp>
        <p:nvSpPr>
          <p:cNvPr id="21" name="증상"/>
          <p:cNvSpPr/>
          <p:nvPr/>
        </p:nvSpPr>
        <p:spPr>
          <a:xfrm>
            <a:off x="457200" y="4498848"/>
            <a:ext cx="5120640" cy="325120"/>
          </a:xfrm>
          <a:prstGeom prst="roundRect">
            <a:avLst>
              <a:gd name="adj" fmla="val 28125"/>
            </a:avLst>
          </a:prstGeom>
          <a:solidFill>
            <a:schemeClr val="bg1"/>
          </a:solidFill>
          <a:ln/>
          <a:effectLst>
            <a:outerShdw sx="100000" sy="100000" kx="0" ky="0" algn="bl" rotWithShape="0" blurRad="101600" dist="25400" dir="5400000">
              <a:srgbClr val="12324A">
                <a:alpha val="10000"/>
              </a:srgbClr>
            </a:outerShdw>
          </a:effectLst>
        </p:spPr>
      </p:sp>
      <p:pic>
        <p:nvPicPr>
          <p:cNvPr id="22" name="Image 4" descr="preencoded.png">    </p:cNvPr>
          <p:cNvPicPr>
            <a:picLocks noChangeAspect="1"/>
          </p:cNvPicPr>
          <p:nvPr/>
        </p:nvPicPr>
        <p:blipFill>
          <a:blip r:embed="rId5"/>
          <a:stretch>
            <a:fillRect/>
          </a:stretch>
        </p:blipFill>
        <p:spPr>
          <a:xfrm>
            <a:off x="594360" y="4551680"/>
            <a:ext cx="219456" cy="219456"/>
          </a:xfrm>
          <a:prstGeom prst="rect">
            <a:avLst/>
          </a:prstGeom>
        </p:spPr>
      </p:pic>
      <p:sp>
        <p:nvSpPr>
          <p:cNvPr id="23" name="Text 16"/>
          <p:cNvSpPr txBox="1"/>
          <p:nvPr/>
        </p:nvSpPr>
        <p:spPr>
          <a:xfrm>
            <a:off x="932688" y="4498848"/>
            <a:ext cx="4480560" cy="325120"/>
          </a:xfrm>
          <a:prstGeom prst="rect">
            <a:avLst/>
          </a:prstGeom>
          <a:noFill/>
          <a:ln/>
        </p:spPr>
        <p:txBody>
          <a:bodyPr wrap="square" lIns="0" tIns="0" rIns="0" bIns="0" rtlCol="0" anchor="ctr"/>
          <a:lstStyle/>
          <a:p>
            <a:pPr indent="0" marL="0">
              <a:buNone/>
            </a:pPr>
            <a:r>
              <a:rPr lang="en-US" sz="1100" dirty="0">
                <a:solidFill>
                  <a:schemeClr val="tx1"/>
                </a:solidFill>
              </a:rPr>
              <a:t>작동 시 날카로운 모터소리가 들리는 경우</a:t>
            </a:r>
            <a:endParaRPr lang="en-US" sz="1100" dirty="0"/>
          </a:p>
        </p:txBody>
      </p:sp>
      <p:sp>
        <p:nvSpPr>
          <p:cNvPr id="24"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25" name="Image 5" descr="preencoded.png">    </p:cNvPr>
          <p:cNvPicPr>
            <a:picLocks noChangeAspect="1"/>
          </p:cNvPicPr>
          <p:nvPr/>
        </p:nvPicPr>
        <p:blipFill>
          <a:blip r:embed="rId6"/>
          <a:stretch>
            <a:fillRect/>
          </a:stretch>
        </p:blipFill>
        <p:spPr>
          <a:xfrm>
            <a:off x="7040880" y="2231136"/>
            <a:ext cx="457200" cy="457200"/>
          </a:xfrm>
          <a:prstGeom prst="rect">
            <a:avLst/>
          </a:prstGeom>
        </p:spPr>
      </p:pic>
      <p:sp>
        <p:nvSpPr>
          <p:cNvPr id="26" name="Text 18"/>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노즐 사진</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번호 2"/>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02</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메인PCB</a:t>
            </a:r>
            <a:endParaRPr lang="en-US" sz="2800" dirty="0"/>
          </a:p>
        </p:txBody>
      </p:sp>
      <p:sp>
        <p:nvSpPr>
          <p:cNvPr id="6" name="역할"/>
          <p:cNvSpPr/>
          <p:nvPr/>
        </p:nvSpPr>
        <p:spPr>
          <a:xfrm>
            <a:off x="457200" y="1554480"/>
            <a:ext cx="5120640" cy="430784"/>
          </a:xfrm>
          <a:prstGeom prst="roundRect">
            <a:avLst>
              <a:gd name="adj" fmla="val 21226"/>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211328"/>
          </a:xfrm>
          <a:prstGeom prst="rect">
            <a:avLst/>
          </a:prstGeom>
          <a:noFill/>
          <a:ln/>
        </p:spPr>
        <p:txBody>
          <a:bodyPr wrap="square" lIns="0" tIns="0" rIns="0" bIns="0" rtlCol="0" anchor="ctr"/>
          <a:lstStyle/>
          <a:p>
            <a:pPr indent="0" marL="0">
              <a:buNone/>
            </a:pPr>
            <a:r>
              <a:rPr lang="en-US" sz="1300" dirty="0">
                <a:solidFill>
                  <a:schemeClr val="tx1"/>
                </a:solidFill>
              </a:rPr>
              <a:t>전원을 인가하며 비데 부품들을 제어한다.</a:t>
            </a:r>
            <a:endParaRPr lang="en-US" sz="1300" dirty="0"/>
          </a:p>
        </p:txBody>
      </p:sp>
      <p:pic>
        <p:nvPicPr>
          <p:cNvPr id="10" name="Image 0" descr="preencoded.png">    </p:cNvPr>
          <p:cNvPicPr>
            <a:picLocks noChangeAspect="1"/>
          </p:cNvPicPr>
          <p:nvPr/>
        </p:nvPicPr>
        <p:blipFill>
          <a:blip r:embed="rId1"/>
          <a:stretch>
            <a:fillRect/>
          </a:stretch>
        </p:blipFill>
        <p:spPr>
          <a:xfrm>
            <a:off x="457200" y="2213864"/>
            <a:ext cx="237744" cy="237744"/>
          </a:xfrm>
          <a:prstGeom prst="rect">
            <a:avLst/>
          </a:prstGeom>
        </p:spPr>
      </p:pic>
      <p:sp>
        <p:nvSpPr>
          <p:cNvPr id="11" name="Text 8"/>
          <p:cNvSpPr txBox="1"/>
          <p:nvPr/>
        </p:nvSpPr>
        <p:spPr>
          <a:xfrm>
            <a:off x="777240" y="2168144"/>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588768"/>
            <a:ext cx="5120640" cy="536448"/>
          </a:xfrm>
          <a:prstGeom prst="roundRect">
            <a:avLst>
              <a:gd name="adj" fmla="val 17045"/>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747264"/>
            <a:ext cx="219456" cy="219456"/>
          </a:xfrm>
          <a:prstGeom prst="rect">
            <a:avLst/>
          </a:prstGeom>
        </p:spPr>
      </p:pic>
      <p:sp>
        <p:nvSpPr>
          <p:cNvPr id="14" name="Text 10"/>
          <p:cNvSpPr txBox="1"/>
          <p:nvPr/>
        </p:nvSpPr>
        <p:spPr>
          <a:xfrm>
            <a:off x="932688" y="2588768"/>
            <a:ext cx="4480560" cy="536448"/>
          </a:xfrm>
          <a:prstGeom prst="rect">
            <a:avLst/>
          </a:prstGeom>
          <a:noFill/>
          <a:ln/>
        </p:spPr>
        <p:txBody>
          <a:bodyPr wrap="square" lIns="0" tIns="0" rIns="0" bIns="0" rtlCol="0" anchor="ctr"/>
          <a:lstStyle/>
          <a:p>
            <a:pPr indent="0" marL="0">
              <a:buNone/>
            </a:pPr>
            <a:r>
              <a:rPr lang="en-US" sz="1200" dirty="0">
                <a:solidFill>
                  <a:schemeClr val="tx1"/>
                </a:solidFill>
              </a:rPr>
              <a:t>전기코드를 꼽아도 전원이 들어오지 않거나 본체의 램프등이 깜빡거리다 꺼지는 경우</a:t>
            </a:r>
            <a:endParaRPr lang="en-US" sz="1200" dirty="0"/>
          </a:p>
        </p:txBody>
      </p:sp>
      <p:sp>
        <p:nvSpPr>
          <p:cNvPr id="15" name="증상"/>
          <p:cNvSpPr/>
          <p:nvPr/>
        </p:nvSpPr>
        <p:spPr>
          <a:xfrm>
            <a:off x="457200" y="3198368"/>
            <a:ext cx="5120640" cy="536448"/>
          </a:xfrm>
          <a:prstGeom prst="roundRect">
            <a:avLst>
              <a:gd name="adj" fmla="val 17045"/>
            </a:avLst>
          </a:prstGeom>
          <a:solidFill>
            <a:schemeClr val="bg1"/>
          </a:solidFill>
          <a:ln/>
          <a:effectLst>
            <a:outerShdw sx="100000" sy="100000" kx="0" ky="0" algn="bl" rotWithShape="0" blurRad="101600" dist="25400" dir="5400000">
              <a:srgbClr val="12324A">
                <a:alpha val="10000"/>
              </a:srgbClr>
            </a:outerShdw>
          </a:effectLst>
        </p:spPr>
      </p:sp>
      <p:pic>
        <p:nvPicPr>
          <p:cNvPr id="16" name="Image 2" descr="preencoded.png">    </p:cNvPr>
          <p:cNvPicPr>
            <a:picLocks noChangeAspect="1"/>
          </p:cNvPicPr>
          <p:nvPr/>
        </p:nvPicPr>
        <p:blipFill>
          <a:blip r:embed="rId3"/>
          <a:stretch>
            <a:fillRect/>
          </a:stretch>
        </p:blipFill>
        <p:spPr>
          <a:xfrm>
            <a:off x="594360" y="3356864"/>
            <a:ext cx="219456" cy="219456"/>
          </a:xfrm>
          <a:prstGeom prst="rect">
            <a:avLst/>
          </a:prstGeom>
        </p:spPr>
      </p:pic>
      <p:sp>
        <p:nvSpPr>
          <p:cNvPr id="17" name="Text 12"/>
          <p:cNvSpPr txBox="1"/>
          <p:nvPr/>
        </p:nvSpPr>
        <p:spPr>
          <a:xfrm>
            <a:off x="932688" y="3198368"/>
            <a:ext cx="4480560" cy="536448"/>
          </a:xfrm>
          <a:prstGeom prst="rect">
            <a:avLst/>
          </a:prstGeom>
          <a:noFill/>
          <a:ln/>
        </p:spPr>
        <p:txBody>
          <a:bodyPr wrap="square" lIns="0" tIns="0" rIns="0" bIns="0" rtlCol="0" anchor="ctr"/>
          <a:lstStyle/>
          <a:p>
            <a:pPr indent="0" marL="0">
              <a:buNone/>
            </a:pPr>
            <a:r>
              <a:rPr lang="en-US" sz="1200" dirty="0">
                <a:solidFill>
                  <a:schemeClr val="tx1"/>
                </a:solidFill>
              </a:rPr>
              <a:t>온수 온도나 시트 온도가 설정 온도보다 과열될 경우</a:t>
            </a:r>
            <a:endParaRPr lang="en-US" sz="1200" dirty="0"/>
          </a:p>
        </p:txBody>
      </p:sp>
      <p:sp>
        <p:nvSpPr>
          <p:cNvPr id="18" name="증상"/>
          <p:cNvSpPr/>
          <p:nvPr/>
        </p:nvSpPr>
        <p:spPr>
          <a:xfrm>
            <a:off x="457200" y="3807968"/>
            <a:ext cx="5120640" cy="341376"/>
          </a:xfrm>
          <a:prstGeom prst="roundRect">
            <a:avLst>
              <a:gd name="adj" fmla="val 26786"/>
            </a:avLst>
          </a:prstGeom>
          <a:solidFill>
            <a:schemeClr val="bg1"/>
          </a:solidFill>
          <a:ln/>
          <a:effectLst>
            <a:outerShdw sx="100000" sy="100000" kx="0" ky="0" algn="bl" rotWithShape="0" blurRad="101600" dist="25400" dir="5400000">
              <a:srgbClr val="12324A">
                <a:alpha val="10000"/>
              </a:srgbClr>
            </a:outerShdw>
          </a:effectLst>
        </p:spPr>
      </p:sp>
      <p:pic>
        <p:nvPicPr>
          <p:cNvPr id="19" name="Image 3" descr="preencoded.png">    </p:cNvPr>
          <p:cNvPicPr>
            <a:picLocks noChangeAspect="1"/>
          </p:cNvPicPr>
          <p:nvPr/>
        </p:nvPicPr>
        <p:blipFill>
          <a:blip r:embed="rId4"/>
          <a:stretch>
            <a:fillRect/>
          </a:stretch>
        </p:blipFill>
        <p:spPr>
          <a:xfrm>
            <a:off x="594360" y="3868928"/>
            <a:ext cx="219456" cy="219456"/>
          </a:xfrm>
          <a:prstGeom prst="rect">
            <a:avLst/>
          </a:prstGeom>
        </p:spPr>
      </p:pic>
      <p:sp>
        <p:nvSpPr>
          <p:cNvPr id="20" name="Text 14"/>
          <p:cNvSpPr txBox="1"/>
          <p:nvPr/>
        </p:nvSpPr>
        <p:spPr>
          <a:xfrm>
            <a:off x="932688" y="3807968"/>
            <a:ext cx="4480560" cy="341376"/>
          </a:xfrm>
          <a:prstGeom prst="rect">
            <a:avLst/>
          </a:prstGeom>
          <a:noFill/>
          <a:ln/>
        </p:spPr>
        <p:txBody>
          <a:bodyPr wrap="square" lIns="0" tIns="0" rIns="0" bIns="0" rtlCol="0" anchor="ctr"/>
          <a:lstStyle/>
          <a:p>
            <a:pPr indent="0" marL="0">
              <a:buNone/>
            </a:pPr>
            <a:r>
              <a:rPr lang="en-US" sz="1200" dirty="0">
                <a:solidFill>
                  <a:schemeClr val="tx1"/>
                </a:solidFill>
              </a:rPr>
              <a:t>시트의 인체감지센서가 인식되지 않는 경우</a:t>
            </a:r>
            <a:endParaRPr lang="en-US" sz="1200" dirty="0"/>
          </a:p>
        </p:txBody>
      </p:sp>
      <p:sp>
        <p:nvSpPr>
          <p:cNvPr id="21" name="증상"/>
          <p:cNvSpPr/>
          <p:nvPr/>
        </p:nvSpPr>
        <p:spPr>
          <a:xfrm>
            <a:off x="457200" y="4222496"/>
            <a:ext cx="5120640" cy="341376"/>
          </a:xfrm>
          <a:prstGeom prst="roundRect">
            <a:avLst>
              <a:gd name="adj" fmla="val 26786"/>
            </a:avLst>
          </a:prstGeom>
          <a:solidFill>
            <a:schemeClr val="bg1"/>
          </a:solidFill>
          <a:ln/>
          <a:effectLst>
            <a:outerShdw sx="100000" sy="100000" kx="0" ky="0" algn="bl" rotWithShape="0" blurRad="101600" dist="25400" dir="5400000">
              <a:srgbClr val="12324A">
                <a:alpha val="10000"/>
              </a:srgbClr>
            </a:outerShdw>
          </a:effectLst>
        </p:spPr>
      </p:sp>
      <p:pic>
        <p:nvPicPr>
          <p:cNvPr id="22" name="Image 4" descr="preencoded.png">    </p:cNvPr>
          <p:cNvPicPr>
            <a:picLocks noChangeAspect="1"/>
          </p:cNvPicPr>
          <p:nvPr/>
        </p:nvPicPr>
        <p:blipFill>
          <a:blip r:embed="rId5"/>
          <a:stretch>
            <a:fillRect/>
          </a:stretch>
        </p:blipFill>
        <p:spPr>
          <a:xfrm>
            <a:off x="594360" y="4283456"/>
            <a:ext cx="219456" cy="219456"/>
          </a:xfrm>
          <a:prstGeom prst="rect">
            <a:avLst/>
          </a:prstGeom>
        </p:spPr>
      </p:pic>
      <p:sp>
        <p:nvSpPr>
          <p:cNvPr id="23" name="Text 16"/>
          <p:cNvSpPr txBox="1"/>
          <p:nvPr/>
        </p:nvSpPr>
        <p:spPr>
          <a:xfrm>
            <a:off x="932688" y="4222496"/>
            <a:ext cx="4480560" cy="341376"/>
          </a:xfrm>
          <a:prstGeom prst="rect">
            <a:avLst/>
          </a:prstGeom>
          <a:noFill/>
          <a:ln/>
        </p:spPr>
        <p:txBody>
          <a:bodyPr wrap="square" lIns="0" tIns="0" rIns="0" bIns="0" rtlCol="0" anchor="ctr"/>
          <a:lstStyle/>
          <a:p>
            <a:pPr indent="0" marL="0">
              <a:buNone/>
            </a:pPr>
            <a:r>
              <a:rPr lang="en-US" sz="1200" dirty="0">
                <a:solidFill>
                  <a:schemeClr val="tx1"/>
                </a:solidFill>
              </a:rPr>
              <a:t>시트에 착좌 시 전기가 통하는 느낌을 받는 경우</a:t>
            </a:r>
            <a:endParaRPr lang="en-US" sz="1200" dirty="0"/>
          </a:p>
        </p:txBody>
      </p:sp>
      <p:sp>
        <p:nvSpPr>
          <p:cNvPr id="24"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25" name="Image 5" descr="preencoded.png">    </p:cNvPr>
          <p:cNvPicPr>
            <a:picLocks noChangeAspect="1"/>
          </p:cNvPicPr>
          <p:nvPr/>
        </p:nvPicPr>
        <p:blipFill>
          <a:blip r:embed="rId6"/>
          <a:stretch>
            <a:fillRect/>
          </a:stretch>
        </p:blipFill>
        <p:spPr>
          <a:xfrm>
            <a:off x="7040880" y="2231136"/>
            <a:ext cx="457200" cy="457200"/>
          </a:xfrm>
          <a:prstGeom prst="rect">
            <a:avLst/>
          </a:prstGeom>
        </p:spPr>
      </p:pic>
      <p:sp>
        <p:nvSpPr>
          <p:cNvPr id="26" name="Text 18"/>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메인PCB 사진</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번호 3"/>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03</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급수부 아세이 (솔레노이드 밸브)</a:t>
            </a:r>
            <a:endParaRPr lang="en-US" sz="2800" dirty="0"/>
          </a:p>
        </p:txBody>
      </p:sp>
      <p:sp>
        <p:nvSpPr>
          <p:cNvPr id="6" name="역할"/>
          <p:cNvSpPr/>
          <p:nvPr/>
        </p:nvSpPr>
        <p:spPr>
          <a:xfrm>
            <a:off x="457200" y="1554480"/>
            <a:ext cx="5120640" cy="642112"/>
          </a:xfrm>
          <a:prstGeom prst="roundRect">
            <a:avLst>
              <a:gd name="adj" fmla="val 14241"/>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422656"/>
          </a:xfrm>
          <a:prstGeom prst="rect">
            <a:avLst/>
          </a:prstGeom>
          <a:noFill/>
          <a:ln/>
        </p:spPr>
        <p:txBody>
          <a:bodyPr wrap="square" lIns="0" tIns="0" rIns="0" bIns="0" rtlCol="0" anchor="ctr"/>
          <a:lstStyle/>
          <a:p>
            <a:pPr indent="0" marL="0">
              <a:buNone/>
            </a:pPr>
            <a:r>
              <a:rPr lang="en-US" sz="1300" dirty="0">
                <a:solidFill>
                  <a:schemeClr val="tx1"/>
                </a:solidFill>
              </a:rPr>
              <a:t>세정 시 벽배관에서 나오는 물을 탱크로 보내거나 멈추게 해준다.</a:t>
            </a:r>
            <a:endParaRPr lang="en-US" sz="1300" dirty="0"/>
          </a:p>
        </p:txBody>
      </p:sp>
      <p:pic>
        <p:nvPicPr>
          <p:cNvPr id="10" name="Image 0" descr="preencoded.png">    </p:cNvPr>
          <p:cNvPicPr>
            <a:picLocks noChangeAspect="1"/>
          </p:cNvPicPr>
          <p:nvPr/>
        </p:nvPicPr>
        <p:blipFill>
          <a:blip r:embed="rId1"/>
          <a:stretch>
            <a:fillRect/>
          </a:stretch>
        </p:blipFill>
        <p:spPr>
          <a:xfrm>
            <a:off x="457200" y="2425192"/>
            <a:ext cx="237744" cy="237744"/>
          </a:xfrm>
          <a:prstGeom prst="rect">
            <a:avLst/>
          </a:prstGeom>
        </p:spPr>
      </p:pic>
      <p:sp>
        <p:nvSpPr>
          <p:cNvPr id="11" name="Text 8"/>
          <p:cNvSpPr txBox="1"/>
          <p:nvPr/>
        </p:nvSpPr>
        <p:spPr>
          <a:xfrm>
            <a:off x="777240" y="2379472"/>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800096"/>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991104"/>
            <a:ext cx="219456" cy="219456"/>
          </a:xfrm>
          <a:prstGeom prst="rect">
            <a:avLst/>
          </a:prstGeom>
        </p:spPr>
      </p:pic>
      <p:sp>
        <p:nvSpPr>
          <p:cNvPr id="14" name="Text 10"/>
          <p:cNvSpPr txBox="1"/>
          <p:nvPr/>
        </p:nvSpPr>
        <p:spPr>
          <a:xfrm>
            <a:off x="932688" y="2800096"/>
            <a:ext cx="4480560" cy="601472"/>
          </a:xfrm>
          <a:prstGeom prst="rect">
            <a:avLst/>
          </a:prstGeom>
          <a:noFill/>
          <a:ln/>
        </p:spPr>
        <p:txBody>
          <a:bodyPr wrap="square" lIns="0" tIns="0" rIns="0" bIns="0" rtlCol="0" anchor="ctr"/>
          <a:lstStyle/>
          <a:p>
            <a:pPr indent="0" marL="0">
              <a:buNone/>
            </a:pPr>
            <a:r>
              <a:rPr lang="en-US" sz="1400" dirty="0">
                <a:solidFill>
                  <a:schemeClr val="tx1"/>
                </a:solidFill>
              </a:rPr>
              <a:t>세정 시 노즐은 나오는데 물이 나오지 않는 경우</a:t>
            </a:r>
            <a:endParaRPr lang="en-US" sz="1400" dirty="0"/>
          </a:p>
        </p:txBody>
      </p:sp>
      <p:sp>
        <p:nvSpPr>
          <p:cNvPr id="15" name="증상"/>
          <p:cNvSpPr/>
          <p:nvPr/>
        </p:nvSpPr>
        <p:spPr>
          <a:xfrm>
            <a:off x="457200" y="3474720"/>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6" name="Image 2" descr="preencoded.png">    </p:cNvPr>
          <p:cNvPicPr>
            <a:picLocks noChangeAspect="1"/>
          </p:cNvPicPr>
          <p:nvPr/>
        </p:nvPicPr>
        <p:blipFill>
          <a:blip r:embed="rId3"/>
          <a:stretch>
            <a:fillRect/>
          </a:stretch>
        </p:blipFill>
        <p:spPr>
          <a:xfrm>
            <a:off x="594360" y="3665728"/>
            <a:ext cx="219456" cy="219456"/>
          </a:xfrm>
          <a:prstGeom prst="rect">
            <a:avLst/>
          </a:prstGeom>
        </p:spPr>
      </p:pic>
      <p:sp>
        <p:nvSpPr>
          <p:cNvPr id="17" name="Text 12"/>
          <p:cNvSpPr txBox="1"/>
          <p:nvPr/>
        </p:nvSpPr>
        <p:spPr>
          <a:xfrm>
            <a:off x="932688" y="3474720"/>
            <a:ext cx="4480560" cy="601472"/>
          </a:xfrm>
          <a:prstGeom prst="rect">
            <a:avLst/>
          </a:prstGeom>
          <a:noFill/>
          <a:ln/>
        </p:spPr>
        <p:txBody>
          <a:bodyPr wrap="square" lIns="0" tIns="0" rIns="0" bIns="0" rtlCol="0" anchor="ctr"/>
          <a:lstStyle/>
          <a:p>
            <a:pPr indent="0" marL="0">
              <a:buNone/>
            </a:pPr>
            <a:r>
              <a:rPr lang="en-US" sz="1400" dirty="0">
                <a:solidFill>
                  <a:schemeClr val="tx1"/>
                </a:solidFill>
              </a:rPr>
              <a:t>세정 시 삐~~ 하는 날카로운 소리가 들리는 경우</a:t>
            </a:r>
            <a:endParaRPr lang="en-US" sz="1400" dirty="0"/>
          </a:p>
        </p:txBody>
      </p:sp>
      <p:sp>
        <p:nvSpPr>
          <p:cNvPr id="18" name="증상"/>
          <p:cNvSpPr/>
          <p:nvPr/>
        </p:nvSpPr>
        <p:spPr>
          <a:xfrm>
            <a:off x="457200" y="4149344"/>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9" name="Image 3" descr="preencoded.png">    </p:cNvPr>
          <p:cNvPicPr>
            <a:picLocks noChangeAspect="1"/>
          </p:cNvPicPr>
          <p:nvPr/>
        </p:nvPicPr>
        <p:blipFill>
          <a:blip r:embed="rId4"/>
          <a:stretch>
            <a:fillRect/>
          </a:stretch>
        </p:blipFill>
        <p:spPr>
          <a:xfrm>
            <a:off x="594360" y="4340352"/>
            <a:ext cx="219456" cy="219456"/>
          </a:xfrm>
          <a:prstGeom prst="rect">
            <a:avLst/>
          </a:prstGeom>
        </p:spPr>
      </p:pic>
      <p:sp>
        <p:nvSpPr>
          <p:cNvPr id="20" name="Text 14"/>
          <p:cNvSpPr txBox="1"/>
          <p:nvPr/>
        </p:nvSpPr>
        <p:spPr>
          <a:xfrm>
            <a:off x="932688" y="4149344"/>
            <a:ext cx="4480560" cy="601472"/>
          </a:xfrm>
          <a:prstGeom prst="rect">
            <a:avLst/>
          </a:prstGeom>
          <a:noFill/>
          <a:ln/>
        </p:spPr>
        <p:txBody>
          <a:bodyPr wrap="square" lIns="0" tIns="0" rIns="0" bIns="0" rtlCol="0" anchor="ctr"/>
          <a:lstStyle/>
          <a:p>
            <a:pPr indent="0" marL="0">
              <a:buNone/>
            </a:pPr>
            <a:r>
              <a:rPr lang="en-US" sz="1400" dirty="0">
                <a:solidFill>
                  <a:schemeClr val="tx1"/>
                </a:solidFill>
              </a:rPr>
              <a:t>비데 호스를 연결하는 ㄱ자 커넥터 부분이 부러진 경우</a:t>
            </a:r>
            <a:endParaRPr lang="en-US" sz="1400" dirty="0"/>
          </a:p>
        </p:txBody>
      </p:sp>
      <p:sp>
        <p:nvSpPr>
          <p:cNvPr id="21"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22" name="Image 4" descr="preencoded.png">    </p:cNvPr>
          <p:cNvPicPr>
            <a:picLocks noChangeAspect="1"/>
          </p:cNvPicPr>
          <p:nvPr/>
        </p:nvPicPr>
        <p:blipFill>
          <a:blip r:embed="rId5"/>
          <a:stretch>
            <a:fillRect/>
          </a:stretch>
        </p:blipFill>
        <p:spPr>
          <a:xfrm>
            <a:off x="7040880" y="2231136"/>
            <a:ext cx="457200" cy="457200"/>
          </a:xfrm>
          <a:prstGeom prst="rect">
            <a:avLst/>
          </a:prstGeom>
        </p:spPr>
      </p:pic>
      <p:sp>
        <p:nvSpPr>
          <p:cNvPr id="23" name="Text 16"/>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급수부 아세이 사진</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번호 4"/>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04</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온수탱크</a:t>
            </a:r>
            <a:endParaRPr lang="en-US" sz="2800" dirty="0"/>
          </a:p>
        </p:txBody>
      </p:sp>
      <p:sp>
        <p:nvSpPr>
          <p:cNvPr id="6" name="역할"/>
          <p:cNvSpPr/>
          <p:nvPr/>
        </p:nvSpPr>
        <p:spPr>
          <a:xfrm>
            <a:off x="457200" y="1554480"/>
            <a:ext cx="5120640" cy="642112"/>
          </a:xfrm>
          <a:prstGeom prst="roundRect">
            <a:avLst>
              <a:gd name="adj" fmla="val 14241"/>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422656"/>
          </a:xfrm>
          <a:prstGeom prst="rect">
            <a:avLst/>
          </a:prstGeom>
          <a:noFill/>
          <a:ln/>
        </p:spPr>
        <p:txBody>
          <a:bodyPr wrap="square" lIns="0" tIns="0" rIns="0" bIns="0" rtlCol="0" anchor="ctr"/>
          <a:lstStyle/>
          <a:p>
            <a:pPr indent="0" marL="0">
              <a:buNone/>
            </a:pPr>
            <a:r>
              <a:rPr lang="en-US" sz="1300" dirty="0">
                <a:solidFill>
                  <a:schemeClr val="tx1"/>
                </a:solidFill>
              </a:rPr>
              <a:t>설정 온도에 맞는 물이 나오도록 물을 데우며 바로 사용할 수 있도록 저장한다.</a:t>
            </a:r>
            <a:endParaRPr lang="en-US" sz="1300" dirty="0"/>
          </a:p>
        </p:txBody>
      </p:sp>
      <p:pic>
        <p:nvPicPr>
          <p:cNvPr id="10" name="Image 0" descr="preencoded.png">    </p:cNvPr>
          <p:cNvPicPr>
            <a:picLocks noChangeAspect="1"/>
          </p:cNvPicPr>
          <p:nvPr/>
        </p:nvPicPr>
        <p:blipFill>
          <a:blip r:embed="rId1"/>
          <a:stretch>
            <a:fillRect/>
          </a:stretch>
        </p:blipFill>
        <p:spPr>
          <a:xfrm>
            <a:off x="457200" y="2425192"/>
            <a:ext cx="237744" cy="237744"/>
          </a:xfrm>
          <a:prstGeom prst="rect">
            <a:avLst/>
          </a:prstGeom>
        </p:spPr>
      </p:pic>
      <p:sp>
        <p:nvSpPr>
          <p:cNvPr id="11" name="Text 8"/>
          <p:cNvSpPr txBox="1"/>
          <p:nvPr/>
        </p:nvSpPr>
        <p:spPr>
          <a:xfrm>
            <a:off x="777240" y="2379472"/>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800096"/>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991104"/>
            <a:ext cx="219456" cy="219456"/>
          </a:xfrm>
          <a:prstGeom prst="rect">
            <a:avLst/>
          </a:prstGeom>
        </p:spPr>
      </p:pic>
      <p:sp>
        <p:nvSpPr>
          <p:cNvPr id="14" name="Text 10"/>
          <p:cNvSpPr txBox="1"/>
          <p:nvPr/>
        </p:nvSpPr>
        <p:spPr>
          <a:xfrm>
            <a:off x="932688" y="2800096"/>
            <a:ext cx="4480560" cy="601472"/>
          </a:xfrm>
          <a:prstGeom prst="rect">
            <a:avLst/>
          </a:prstGeom>
          <a:noFill/>
          <a:ln/>
        </p:spPr>
        <p:txBody>
          <a:bodyPr wrap="square" lIns="0" tIns="0" rIns="0" bIns="0" rtlCol="0" anchor="ctr"/>
          <a:lstStyle/>
          <a:p>
            <a:pPr indent="0" marL="0">
              <a:buNone/>
            </a:pPr>
            <a:r>
              <a:rPr lang="en-US" sz="1400" dirty="0">
                <a:solidFill>
                  <a:schemeClr val="tx1"/>
                </a:solidFill>
              </a:rPr>
              <a:t>집안의 차단기가 떨어지며 전기가 나가는 경우</a:t>
            </a:r>
            <a:endParaRPr lang="en-US" sz="1400" dirty="0"/>
          </a:p>
        </p:txBody>
      </p:sp>
      <p:sp>
        <p:nvSpPr>
          <p:cNvPr id="15" name="증상"/>
          <p:cNvSpPr/>
          <p:nvPr/>
        </p:nvSpPr>
        <p:spPr>
          <a:xfrm>
            <a:off x="457200" y="3474720"/>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6" name="Image 2" descr="preencoded.png">    </p:cNvPr>
          <p:cNvPicPr>
            <a:picLocks noChangeAspect="1"/>
          </p:cNvPicPr>
          <p:nvPr/>
        </p:nvPicPr>
        <p:blipFill>
          <a:blip r:embed="rId3"/>
          <a:stretch>
            <a:fillRect/>
          </a:stretch>
        </p:blipFill>
        <p:spPr>
          <a:xfrm>
            <a:off x="594360" y="3665728"/>
            <a:ext cx="219456" cy="219456"/>
          </a:xfrm>
          <a:prstGeom prst="rect">
            <a:avLst/>
          </a:prstGeom>
        </p:spPr>
      </p:pic>
      <p:sp>
        <p:nvSpPr>
          <p:cNvPr id="17" name="Text 12"/>
          <p:cNvSpPr txBox="1"/>
          <p:nvPr/>
        </p:nvSpPr>
        <p:spPr>
          <a:xfrm>
            <a:off x="932688" y="3474720"/>
            <a:ext cx="4480560" cy="601472"/>
          </a:xfrm>
          <a:prstGeom prst="rect">
            <a:avLst/>
          </a:prstGeom>
          <a:noFill/>
          <a:ln/>
        </p:spPr>
        <p:txBody>
          <a:bodyPr wrap="square" lIns="0" tIns="0" rIns="0" bIns="0" rtlCol="0" anchor="ctr"/>
          <a:lstStyle/>
          <a:p>
            <a:pPr indent="0" marL="0">
              <a:buNone/>
            </a:pPr>
            <a:r>
              <a:rPr lang="en-US" sz="1400" dirty="0">
                <a:solidFill>
                  <a:schemeClr val="tx1"/>
                </a:solidFill>
              </a:rPr>
              <a:t>전원이 들어왔지만 준비 동작하다가 멈추며 전원이 나가는 경우</a:t>
            </a:r>
            <a:endParaRPr lang="en-US" sz="1400" dirty="0"/>
          </a:p>
        </p:txBody>
      </p:sp>
      <p:sp>
        <p:nvSpPr>
          <p:cNvPr id="18" name="증상"/>
          <p:cNvSpPr/>
          <p:nvPr/>
        </p:nvSpPr>
        <p:spPr>
          <a:xfrm>
            <a:off x="457200" y="4149344"/>
            <a:ext cx="5120640" cy="373888"/>
          </a:xfrm>
          <a:prstGeom prst="roundRect">
            <a:avLst>
              <a:gd name="adj" fmla="val 24457"/>
            </a:avLst>
          </a:prstGeom>
          <a:solidFill>
            <a:schemeClr val="bg1"/>
          </a:solidFill>
          <a:ln/>
          <a:effectLst>
            <a:outerShdw sx="100000" sy="100000" kx="0" ky="0" algn="bl" rotWithShape="0" blurRad="101600" dist="25400" dir="5400000">
              <a:srgbClr val="12324A">
                <a:alpha val="10000"/>
              </a:srgbClr>
            </a:outerShdw>
          </a:effectLst>
        </p:spPr>
      </p:sp>
      <p:pic>
        <p:nvPicPr>
          <p:cNvPr id="19" name="Image 3" descr="preencoded.png">    </p:cNvPr>
          <p:cNvPicPr>
            <a:picLocks noChangeAspect="1"/>
          </p:cNvPicPr>
          <p:nvPr/>
        </p:nvPicPr>
        <p:blipFill>
          <a:blip r:embed="rId4"/>
          <a:stretch>
            <a:fillRect/>
          </a:stretch>
        </p:blipFill>
        <p:spPr>
          <a:xfrm>
            <a:off x="594360" y="4226560"/>
            <a:ext cx="219456" cy="219456"/>
          </a:xfrm>
          <a:prstGeom prst="rect">
            <a:avLst/>
          </a:prstGeom>
        </p:spPr>
      </p:pic>
      <p:sp>
        <p:nvSpPr>
          <p:cNvPr id="20" name="Text 14"/>
          <p:cNvSpPr txBox="1"/>
          <p:nvPr/>
        </p:nvSpPr>
        <p:spPr>
          <a:xfrm>
            <a:off x="932688" y="4149344"/>
            <a:ext cx="4480560" cy="373888"/>
          </a:xfrm>
          <a:prstGeom prst="rect">
            <a:avLst/>
          </a:prstGeom>
          <a:noFill/>
          <a:ln/>
        </p:spPr>
        <p:txBody>
          <a:bodyPr wrap="square" lIns="0" tIns="0" rIns="0" bIns="0" rtlCol="0" anchor="ctr"/>
          <a:lstStyle/>
          <a:p>
            <a:pPr indent="0" marL="0">
              <a:buNone/>
            </a:pPr>
            <a:r>
              <a:rPr lang="en-US" sz="1400" dirty="0">
                <a:solidFill>
                  <a:schemeClr val="tx1"/>
                </a:solidFill>
              </a:rPr>
              <a:t>온수가 안 나오는 경우</a:t>
            </a:r>
            <a:endParaRPr lang="en-US" sz="1400" dirty="0"/>
          </a:p>
        </p:txBody>
      </p:sp>
      <p:sp>
        <p:nvSpPr>
          <p:cNvPr id="21"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22" name="Image 4" descr="preencoded.png">    </p:cNvPr>
          <p:cNvPicPr>
            <a:picLocks noChangeAspect="1"/>
          </p:cNvPicPr>
          <p:nvPr/>
        </p:nvPicPr>
        <p:blipFill>
          <a:blip r:embed="rId5"/>
          <a:stretch>
            <a:fillRect/>
          </a:stretch>
        </p:blipFill>
        <p:spPr>
          <a:xfrm>
            <a:off x="7040880" y="2231136"/>
            <a:ext cx="457200" cy="457200"/>
          </a:xfrm>
          <a:prstGeom prst="rect">
            <a:avLst/>
          </a:prstGeom>
        </p:spPr>
      </p:pic>
      <p:sp>
        <p:nvSpPr>
          <p:cNvPr id="23" name="Text 16"/>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온수탱크 사진</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번호 5"/>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05</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시트 / 커버(리드)</a:t>
            </a:r>
            <a:endParaRPr lang="en-US" sz="2800" dirty="0"/>
          </a:p>
        </p:txBody>
      </p:sp>
      <p:sp>
        <p:nvSpPr>
          <p:cNvPr id="6" name="역할"/>
          <p:cNvSpPr/>
          <p:nvPr/>
        </p:nvSpPr>
        <p:spPr>
          <a:xfrm>
            <a:off x="457200" y="1554480"/>
            <a:ext cx="5120640" cy="1064768"/>
          </a:xfrm>
          <a:prstGeom prst="roundRect">
            <a:avLst>
              <a:gd name="adj" fmla="val 8588"/>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845312"/>
          </a:xfrm>
          <a:prstGeom prst="rect">
            <a:avLst/>
          </a:prstGeom>
          <a:noFill/>
          <a:ln/>
        </p:spPr>
        <p:txBody>
          <a:bodyPr wrap="square" lIns="0" tIns="0" rIns="0" bIns="0" rtlCol="0" anchor="ctr"/>
          <a:lstStyle/>
          <a:p>
            <a:pPr indent="0" marL="0">
              <a:buNone/>
            </a:pPr>
            <a:r>
              <a:rPr lang="en-US" sz="1300" dirty="0">
                <a:solidFill>
                  <a:schemeClr val="tx1"/>
                </a:solidFill>
              </a:rPr>
              <a:t>내부에 있는 열선으로 착좌 부위를 따뜻하게 해준다.</a:t>
            </a:r>
            <a:endParaRPr lang="en-US" sz="1300" dirty="0"/>
          </a:p>
          <a:p>
            <a:pPr indent="0" marL="0">
              <a:buNone/>
            </a:pPr>
            <a:r>
              <a:rPr lang="en-US" sz="1300" dirty="0">
                <a:solidFill>
                  <a:schemeClr val="tx1"/>
                </a:solidFill>
              </a:rPr>
              <a:t>용변 후 물내림 시 내부 이물질이 튀지 않게 막아준다.</a:t>
            </a:r>
            <a:endParaRPr lang="en-US" sz="1300" dirty="0"/>
          </a:p>
        </p:txBody>
      </p:sp>
      <p:pic>
        <p:nvPicPr>
          <p:cNvPr id="10" name="Image 0" descr="preencoded.png">    </p:cNvPr>
          <p:cNvPicPr>
            <a:picLocks noChangeAspect="1"/>
          </p:cNvPicPr>
          <p:nvPr/>
        </p:nvPicPr>
        <p:blipFill>
          <a:blip r:embed="rId1"/>
          <a:stretch>
            <a:fillRect/>
          </a:stretch>
        </p:blipFill>
        <p:spPr>
          <a:xfrm>
            <a:off x="457200" y="2847848"/>
            <a:ext cx="237744" cy="237744"/>
          </a:xfrm>
          <a:prstGeom prst="rect">
            <a:avLst/>
          </a:prstGeom>
        </p:spPr>
      </p:pic>
      <p:sp>
        <p:nvSpPr>
          <p:cNvPr id="11" name="Text 8"/>
          <p:cNvSpPr txBox="1"/>
          <p:nvPr/>
        </p:nvSpPr>
        <p:spPr>
          <a:xfrm>
            <a:off x="777240" y="2802128"/>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3222752"/>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3413760"/>
            <a:ext cx="219456" cy="219456"/>
          </a:xfrm>
          <a:prstGeom prst="rect">
            <a:avLst/>
          </a:prstGeom>
        </p:spPr>
      </p:pic>
      <p:sp>
        <p:nvSpPr>
          <p:cNvPr id="14" name="Text 10"/>
          <p:cNvSpPr txBox="1"/>
          <p:nvPr/>
        </p:nvSpPr>
        <p:spPr>
          <a:xfrm>
            <a:off x="932688" y="3222752"/>
            <a:ext cx="4480560" cy="601472"/>
          </a:xfrm>
          <a:prstGeom prst="rect">
            <a:avLst/>
          </a:prstGeom>
          <a:noFill/>
          <a:ln/>
        </p:spPr>
        <p:txBody>
          <a:bodyPr wrap="square" lIns="0" tIns="0" rIns="0" bIns="0" rtlCol="0" anchor="ctr"/>
          <a:lstStyle/>
          <a:p>
            <a:pPr indent="0" marL="0">
              <a:buNone/>
            </a:pPr>
            <a:r>
              <a:rPr lang="en-US" sz="1400" dirty="0">
                <a:solidFill>
                  <a:schemeClr val="tx1"/>
                </a:solidFill>
              </a:rPr>
              <a:t>시트 온도를 올려도 온도에 변화가 없는 경우</a:t>
            </a:r>
            <a:endParaRPr lang="en-US" sz="1400" dirty="0"/>
          </a:p>
        </p:txBody>
      </p:sp>
      <p:sp>
        <p:nvSpPr>
          <p:cNvPr id="15" name="증상"/>
          <p:cNvSpPr/>
          <p:nvPr/>
        </p:nvSpPr>
        <p:spPr>
          <a:xfrm>
            <a:off x="457200" y="3897376"/>
            <a:ext cx="5120640" cy="373888"/>
          </a:xfrm>
          <a:prstGeom prst="roundRect">
            <a:avLst>
              <a:gd name="adj" fmla="val 24457"/>
            </a:avLst>
          </a:prstGeom>
          <a:solidFill>
            <a:schemeClr val="bg1"/>
          </a:solidFill>
          <a:ln/>
          <a:effectLst>
            <a:outerShdw sx="100000" sy="100000" kx="0" ky="0" algn="bl" rotWithShape="0" blurRad="101600" dist="25400" dir="5400000">
              <a:srgbClr val="12324A">
                <a:alpha val="10000"/>
              </a:srgbClr>
            </a:outerShdw>
          </a:effectLst>
        </p:spPr>
      </p:sp>
      <p:pic>
        <p:nvPicPr>
          <p:cNvPr id="16" name="Image 2" descr="preencoded.png">    </p:cNvPr>
          <p:cNvPicPr>
            <a:picLocks noChangeAspect="1"/>
          </p:cNvPicPr>
          <p:nvPr/>
        </p:nvPicPr>
        <p:blipFill>
          <a:blip r:embed="rId3"/>
          <a:stretch>
            <a:fillRect/>
          </a:stretch>
        </p:blipFill>
        <p:spPr>
          <a:xfrm>
            <a:off x="594360" y="3974592"/>
            <a:ext cx="219456" cy="219456"/>
          </a:xfrm>
          <a:prstGeom prst="rect">
            <a:avLst/>
          </a:prstGeom>
        </p:spPr>
      </p:pic>
      <p:sp>
        <p:nvSpPr>
          <p:cNvPr id="17" name="Text 12"/>
          <p:cNvSpPr txBox="1"/>
          <p:nvPr/>
        </p:nvSpPr>
        <p:spPr>
          <a:xfrm>
            <a:off x="932688" y="3897376"/>
            <a:ext cx="4480560" cy="373888"/>
          </a:xfrm>
          <a:prstGeom prst="rect">
            <a:avLst/>
          </a:prstGeom>
          <a:noFill/>
          <a:ln/>
        </p:spPr>
        <p:txBody>
          <a:bodyPr wrap="square" lIns="0" tIns="0" rIns="0" bIns="0" rtlCol="0" anchor="ctr"/>
          <a:lstStyle/>
          <a:p>
            <a:pPr indent="0" marL="0">
              <a:buNone/>
            </a:pPr>
            <a:r>
              <a:rPr lang="en-US" sz="1400" dirty="0">
                <a:solidFill>
                  <a:schemeClr val="tx1"/>
                </a:solidFill>
              </a:rPr>
              <a:t>변좌 버튼의 램프등이 깜빡거린다.</a:t>
            </a:r>
            <a:endParaRPr lang="en-US" sz="1400" dirty="0"/>
          </a:p>
        </p:txBody>
      </p:sp>
      <p:sp>
        <p:nvSpPr>
          <p:cNvPr id="18" name="증상"/>
          <p:cNvSpPr/>
          <p:nvPr/>
        </p:nvSpPr>
        <p:spPr>
          <a:xfrm>
            <a:off x="457200" y="4344416"/>
            <a:ext cx="5120640" cy="373888"/>
          </a:xfrm>
          <a:prstGeom prst="roundRect">
            <a:avLst>
              <a:gd name="adj" fmla="val 24457"/>
            </a:avLst>
          </a:prstGeom>
          <a:solidFill>
            <a:schemeClr val="bg1"/>
          </a:solidFill>
          <a:ln/>
          <a:effectLst>
            <a:outerShdw sx="100000" sy="100000" kx="0" ky="0" algn="bl" rotWithShape="0" blurRad="101600" dist="25400" dir="5400000">
              <a:srgbClr val="12324A">
                <a:alpha val="10000"/>
              </a:srgbClr>
            </a:outerShdw>
          </a:effectLst>
        </p:spPr>
      </p:sp>
      <p:pic>
        <p:nvPicPr>
          <p:cNvPr id="19" name="Image 3" descr="preencoded.png">    </p:cNvPr>
          <p:cNvPicPr>
            <a:picLocks noChangeAspect="1"/>
          </p:cNvPicPr>
          <p:nvPr/>
        </p:nvPicPr>
        <p:blipFill>
          <a:blip r:embed="rId4"/>
          <a:stretch>
            <a:fillRect/>
          </a:stretch>
        </p:blipFill>
        <p:spPr>
          <a:xfrm>
            <a:off x="594360" y="4421632"/>
            <a:ext cx="219456" cy="219456"/>
          </a:xfrm>
          <a:prstGeom prst="rect">
            <a:avLst/>
          </a:prstGeom>
        </p:spPr>
      </p:pic>
      <p:sp>
        <p:nvSpPr>
          <p:cNvPr id="20" name="Text 14"/>
          <p:cNvSpPr txBox="1"/>
          <p:nvPr/>
        </p:nvSpPr>
        <p:spPr>
          <a:xfrm>
            <a:off x="932688" y="4344416"/>
            <a:ext cx="4480560" cy="373888"/>
          </a:xfrm>
          <a:prstGeom prst="rect">
            <a:avLst/>
          </a:prstGeom>
          <a:noFill/>
          <a:ln/>
        </p:spPr>
        <p:txBody>
          <a:bodyPr wrap="square" lIns="0" tIns="0" rIns="0" bIns="0" rtlCol="0" anchor="ctr"/>
          <a:lstStyle/>
          <a:p>
            <a:pPr indent="0" marL="0">
              <a:buNone/>
            </a:pPr>
            <a:r>
              <a:rPr lang="en-US" sz="1400" dirty="0">
                <a:solidFill>
                  <a:schemeClr val="tx1"/>
                </a:solidFill>
              </a:rPr>
              <a:t>시트 / 커버와 바디케이스의 연결부분 파손</a:t>
            </a:r>
            <a:endParaRPr lang="en-US" sz="1400" dirty="0"/>
          </a:p>
        </p:txBody>
      </p:sp>
      <p:sp>
        <p:nvSpPr>
          <p:cNvPr id="21"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22" name="Image 4" descr="preencoded.png">    </p:cNvPr>
          <p:cNvPicPr>
            <a:picLocks noChangeAspect="1"/>
          </p:cNvPicPr>
          <p:nvPr/>
        </p:nvPicPr>
        <p:blipFill>
          <a:blip r:embed="rId5"/>
          <a:stretch>
            <a:fillRect/>
          </a:stretch>
        </p:blipFill>
        <p:spPr>
          <a:xfrm>
            <a:off x="7040880" y="2231136"/>
            <a:ext cx="457200" cy="457200"/>
          </a:xfrm>
          <a:prstGeom prst="rect">
            <a:avLst/>
          </a:prstGeom>
        </p:spPr>
      </p:pic>
      <p:sp>
        <p:nvSpPr>
          <p:cNvPr id="23" name="Text 16"/>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시트 / 커버(리드) 사진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번호 6"/>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6</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06</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시트댐퍼 / 커버(리드)댐퍼</a:t>
            </a:r>
            <a:endParaRPr lang="en-US" sz="2800" dirty="0"/>
          </a:p>
        </p:txBody>
      </p:sp>
      <p:sp>
        <p:nvSpPr>
          <p:cNvPr id="6" name="역할"/>
          <p:cNvSpPr/>
          <p:nvPr/>
        </p:nvSpPr>
        <p:spPr>
          <a:xfrm>
            <a:off x="457200" y="1554480"/>
            <a:ext cx="5120640" cy="642112"/>
          </a:xfrm>
          <a:prstGeom prst="roundRect">
            <a:avLst>
              <a:gd name="adj" fmla="val 14241"/>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422656"/>
          </a:xfrm>
          <a:prstGeom prst="rect">
            <a:avLst/>
          </a:prstGeom>
          <a:noFill/>
          <a:ln/>
        </p:spPr>
        <p:txBody>
          <a:bodyPr wrap="square" lIns="0" tIns="0" rIns="0" bIns="0" rtlCol="0" anchor="ctr"/>
          <a:lstStyle/>
          <a:p>
            <a:pPr indent="0" marL="0">
              <a:buNone/>
            </a:pPr>
            <a:r>
              <a:rPr lang="en-US" sz="1300" dirty="0">
                <a:solidFill>
                  <a:schemeClr val="tx1"/>
                </a:solidFill>
              </a:rPr>
              <a:t>시트 / 커버를 내릴 때 천천히 떨어지게 해준다.</a:t>
            </a:r>
            <a:endParaRPr lang="en-US" sz="1300" dirty="0"/>
          </a:p>
        </p:txBody>
      </p:sp>
      <p:pic>
        <p:nvPicPr>
          <p:cNvPr id="10" name="Image 0" descr="preencoded.png">    </p:cNvPr>
          <p:cNvPicPr>
            <a:picLocks noChangeAspect="1"/>
          </p:cNvPicPr>
          <p:nvPr/>
        </p:nvPicPr>
        <p:blipFill>
          <a:blip r:embed="rId1"/>
          <a:stretch>
            <a:fillRect/>
          </a:stretch>
        </p:blipFill>
        <p:spPr>
          <a:xfrm>
            <a:off x="457200" y="2425192"/>
            <a:ext cx="237744" cy="237744"/>
          </a:xfrm>
          <a:prstGeom prst="rect">
            <a:avLst/>
          </a:prstGeom>
        </p:spPr>
      </p:pic>
      <p:sp>
        <p:nvSpPr>
          <p:cNvPr id="11" name="Text 8"/>
          <p:cNvSpPr txBox="1"/>
          <p:nvPr/>
        </p:nvSpPr>
        <p:spPr>
          <a:xfrm>
            <a:off x="777240" y="2379472"/>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800096"/>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991104"/>
            <a:ext cx="219456" cy="219456"/>
          </a:xfrm>
          <a:prstGeom prst="rect">
            <a:avLst/>
          </a:prstGeom>
        </p:spPr>
      </p:pic>
      <p:sp>
        <p:nvSpPr>
          <p:cNvPr id="14" name="Text 10"/>
          <p:cNvSpPr txBox="1"/>
          <p:nvPr/>
        </p:nvSpPr>
        <p:spPr>
          <a:xfrm>
            <a:off x="932688" y="2800096"/>
            <a:ext cx="4480560" cy="601472"/>
          </a:xfrm>
          <a:prstGeom prst="rect">
            <a:avLst/>
          </a:prstGeom>
          <a:noFill/>
          <a:ln/>
        </p:spPr>
        <p:txBody>
          <a:bodyPr wrap="square" lIns="0" tIns="0" rIns="0" bIns="0" rtlCol="0" anchor="ctr"/>
          <a:lstStyle/>
          <a:p>
            <a:pPr indent="0" marL="0">
              <a:buNone/>
            </a:pPr>
            <a:r>
              <a:rPr lang="en-US" sz="1400" dirty="0">
                <a:solidFill>
                  <a:schemeClr val="tx1"/>
                </a:solidFill>
              </a:rPr>
              <a:t>시트 / 커버를 내릴 때 천천히 떨어지지 않고 빠르게 떨어지는 경우</a:t>
            </a:r>
            <a:endParaRPr lang="en-US" sz="1400" dirty="0"/>
          </a:p>
        </p:txBody>
      </p:sp>
      <p:sp>
        <p:nvSpPr>
          <p:cNvPr id="15"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16" name="Image 2" descr="preencoded.png">    </p:cNvPr>
          <p:cNvPicPr>
            <a:picLocks noChangeAspect="1"/>
          </p:cNvPicPr>
          <p:nvPr/>
        </p:nvPicPr>
        <p:blipFill>
          <a:blip r:embed="rId3"/>
          <a:stretch>
            <a:fillRect/>
          </a:stretch>
        </p:blipFill>
        <p:spPr>
          <a:xfrm>
            <a:off x="7040880" y="2231136"/>
            <a:ext cx="457200" cy="457200"/>
          </a:xfrm>
          <a:prstGeom prst="rect">
            <a:avLst/>
          </a:prstGeom>
        </p:spPr>
      </p:pic>
      <p:sp>
        <p:nvSpPr>
          <p:cNvPr id="17" name="Text 12"/>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시트·커버 댐퍼 사진</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번호 7"/>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7</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07</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프론트PCB</a:t>
            </a:r>
            <a:endParaRPr lang="en-US" sz="2800" dirty="0"/>
          </a:p>
        </p:txBody>
      </p:sp>
      <p:sp>
        <p:nvSpPr>
          <p:cNvPr id="6" name="역할"/>
          <p:cNvSpPr/>
          <p:nvPr/>
        </p:nvSpPr>
        <p:spPr>
          <a:xfrm>
            <a:off x="457200" y="1554480"/>
            <a:ext cx="5120640" cy="642112"/>
          </a:xfrm>
          <a:prstGeom prst="roundRect">
            <a:avLst>
              <a:gd name="adj" fmla="val 14241"/>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422656"/>
          </a:xfrm>
          <a:prstGeom prst="rect">
            <a:avLst/>
          </a:prstGeom>
          <a:noFill/>
          <a:ln/>
        </p:spPr>
        <p:txBody>
          <a:bodyPr wrap="square" lIns="0" tIns="0" rIns="0" bIns="0" rtlCol="0" anchor="ctr"/>
          <a:lstStyle/>
          <a:p>
            <a:pPr indent="0" marL="0">
              <a:buNone/>
            </a:pPr>
            <a:r>
              <a:rPr lang="en-US" sz="1300" dirty="0">
                <a:solidFill>
                  <a:schemeClr val="tx1"/>
                </a:solidFill>
              </a:rPr>
              <a:t>비데의 각 기능들을 구분 지어 작동할 수 있게 한다.</a:t>
            </a:r>
            <a:endParaRPr lang="en-US" sz="1300" dirty="0"/>
          </a:p>
        </p:txBody>
      </p:sp>
      <p:pic>
        <p:nvPicPr>
          <p:cNvPr id="10" name="Image 0" descr="preencoded.png">    </p:cNvPr>
          <p:cNvPicPr>
            <a:picLocks noChangeAspect="1"/>
          </p:cNvPicPr>
          <p:nvPr/>
        </p:nvPicPr>
        <p:blipFill>
          <a:blip r:embed="rId1"/>
          <a:stretch>
            <a:fillRect/>
          </a:stretch>
        </p:blipFill>
        <p:spPr>
          <a:xfrm>
            <a:off x="457200" y="2425192"/>
            <a:ext cx="237744" cy="237744"/>
          </a:xfrm>
          <a:prstGeom prst="rect">
            <a:avLst/>
          </a:prstGeom>
        </p:spPr>
      </p:pic>
      <p:sp>
        <p:nvSpPr>
          <p:cNvPr id="11" name="Text 8"/>
          <p:cNvSpPr txBox="1"/>
          <p:nvPr/>
        </p:nvSpPr>
        <p:spPr>
          <a:xfrm>
            <a:off x="777240" y="2379472"/>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800096"/>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991104"/>
            <a:ext cx="219456" cy="219456"/>
          </a:xfrm>
          <a:prstGeom prst="rect">
            <a:avLst/>
          </a:prstGeom>
        </p:spPr>
      </p:pic>
      <p:sp>
        <p:nvSpPr>
          <p:cNvPr id="14" name="Text 10"/>
          <p:cNvSpPr txBox="1"/>
          <p:nvPr/>
        </p:nvSpPr>
        <p:spPr>
          <a:xfrm>
            <a:off x="932688" y="2800096"/>
            <a:ext cx="4480560" cy="601472"/>
          </a:xfrm>
          <a:prstGeom prst="rect">
            <a:avLst/>
          </a:prstGeom>
          <a:noFill/>
          <a:ln/>
        </p:spPr>
        <p:txBody>
          <a:bodyPr wrap="square" lIns="0" tIns="0" rIns="0" bIns="0" rtlCol="0" anchor="ctr"/>
          <a:lstStyle/>
          <a:p>
            <a:pPr indent="0" marL="0">
              <a:buNone/>
            </a:pPr>
            <a:r>
              <a:rPr lang="en-US" sz="1400" dirty="0">
                <a:solidFill>
                  <a:schemeClr val="tx1"/>
                </a:solidFill>
              </a:rPr>
              <a:t>버튼에 전체적으로 램프등이 들어와 있는 경우</a:t>
            </a:r>
            <a:endParaRPr lang="en-US" sz="1400" dirty="0"/>
          </a:p>
        </p:txBody>
      </p:sp>
      <p:sp>
        <p:nvSpPr>
          <p:cNvPr id="15" name="증상"/>
          <p:cNvSpPr/>
          <p:nvPr/>
        </p:nvSpPr>
        <p:spPr>
          <a:xfrm>
            <a:off x="457200" y="3474720"/>
            <a:ext cx="5120640" cy="373888"/>
          </a:xfrm>
          <a:prstGeom prst="roundRect">
            <a:avLst>
              <a:gd name="adj" fmla="val 24457"/>
            </a:avLst>
          </a:prstGeom>
          <a:solidFill>
            <a:schemeClr val="bg1"/>
          </a:solidFill>
          <a:ln/>
          <a:effectLst>
            <a:outerShdw sx="100000" sy="100000" kx="0" ky="0" algn="bl" rotWithShape="0" blurRad="101600" dist="25400" dir="5400000">
              <a:srgbClr val="12324A">
                <a:alpha val="10000"/>
              </a:srgbClr>
            </a:outerShdw>
          </a:effectLst>
        </p:spPr>
      </p:sp>
      <p:pic>
        <p:nvPicPr>
          <p:cNvPr id="16" name="Image 2" descr="preencoded.png">    </p:cNvPr>
          <p:cNvPicPr>
            <a:picLocks noChangeAspect="1"/>
          </p:cNvPicPr>
          <p:nvPr/>
        </p:nvPicPr>
        <p:blipFill>
          <a:blip r:embed="rId3"/>
          <a:stretch>
            <a:fillRect/>
          </a:stretch>
        </p:blipFill>
        <p:spPr>
          <a:xfrm>
            <a:off x="594360" y="3551936"/>
            <a:ext cx="219456" cy="219456"/>
          </a:xfrm>
          <a:prstGeom prst="rect">
            <a:avLst/>
          </a:prstGeom>
        </p:spPr>
      </p:pic>
      <p:sp>
        <p:nvSpPr>
          <p:cNvPr id="17" name="Text 12"/>
          <p:cNvSpPr txBox="1"/>
          <p:nvPr/>
        </p:nvSpPr>
        <p:spPr>
          <a:xfrm>
            <a:off x="932688" y="3474720"/>
            <a:ext cx="4480560" cy="373888"/>
          </a:xfrm>
          <a:prstGeom prst="rect">
            <a:avLst/>
          </a:prstGeom>
          <a:noFill/>
          <a:ln/>
        </p:spPr>
        <p:txBody>
          <a:bodyPr wrap="square" lIns="0" tIns="0" rIns="0" bIns="0" rtlCol="0" anchor="ctr"/>
          <a:lstStyle/>
          <a:p>
            <a:pPr indent="0" marL="0">
              <a:buNone/>
            </a:pPr>
            <a:r>
              <a:rPr lang="en-US" sz="1400" dirty="0">
                <a:solidFill>
                  <a:schemeClr val="tx1"/>
                </a:solidFill>
              </a:rPr>
              <a:t>버튼을 눌러도 아무 반응이 없는 경우</a:t>
            </a:r>
            <a:endParaRPr lang="en-US" sz="1400" dirty="0"/>
          </a:p>
        </p:txBody>
      </p:sp>
      <p:sp>
        <p:nvSpPr>
          <p:cNvPr id="18"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19" name="Image 3" descr="preencoded.png">    </p:cNvPr>
          <p:cNvPicPr>
            <a:picLocks noChangeAspect="1"/>
          </p:cNvPicPr>
          <p:nvPr/>
        </p:nvPicPr>
        <p:blipFill>
          <a:blip r:embed="rId4"/>
          <a:stretch>
            <a:fillRect/>
          </a:stretch>
        </p:blipFill>
        <p:spPr>
          <a:xfrm>
            <a:off x="7040880" y="2231136"/>
            <a:ext cx="457200" cy="457200"/>
          </a:xfrm>
          <a:prstGeom prst="rect">
            <a:avLst/>
          </a:prstGeom>
        </p:spPr>
      </p:pic>
      <p:sp>
        <p:nvSpPr>
          <p:cNvPr id="20" name="Text 14"/>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프론트PCB 사진</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번호 8"/>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8</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08</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플로트스위치</a:t>
            </a:r>
            <a:endParaRPr lang="en-US" sz="2800" dirty="0"/>
          </a:p>
        </p:txBody>
      </p:sp>
      <p:sp>
        <p:nvSpPr>
          <p:cNvPr id="6" name="역할"/>
          <p:cNvSpPr/>
          <p:nvPr/>
        </p:nvSpPr>
        <p:spPr>
          <a:xfrm>
            <a:off x="457200" y="1554480"/>
            <a:ext cx="5120640" cy="642112"/>
          </a:xfrm>
          <a:prstGeom prst="roundRect">
            <a:avLst>
              <a:gd name="adj" fmla="val 14241"/>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422656"/>
          </a:xfrm>
          <a:prstGeom prst="rect">
            <a:avLst/>
          </a:prstGeom>
          <a:noFill/>
          <a:ln/>
        </p:spPr>
        <p:txBody>
          <a:bodyPr wrap="square" lIns="0" tIns="0" rIns="0" bIns="0" rtlCol="0" anchor="ctr"/>
          <a:lstStyle/>
          <a:p>
            <a:pPr indent="0" marL="0">
              <a:buNone/>
            </a:pPr>
            <a:r>
              <a:rPr lang="en-US" sz="1300" dirty="0">
                <a:solidFill>
                  <a:schemeClr val="tx1"/>
                </a:solidFill>
              </a:rPr>
              <a:t>온수탱크 내에 물이 얼만큼 차 있는지 측정하는 수량센서.</a:t>
            </a:r>
            <a:endParaRPr lang="en-US" sz="1300" dirty="0"/>
          </a:p>
        </p:txBody>
      </p:sp>
      <p:pic>
        <p:nvPicPr>
          <p:cNvPr id="10" name="Image 0" descr="preencoded.png">    </p:cNvPr>
          <p:cNvPicPr>
            <a:picLocks noChangeAspect="1"/>
          </p:cNvPicPr>
          <p:nvPr/>
        </p:nvPicPr>
        <p:blipFill>
          <a:blip r:embed="rId1"/>
          <a:stretch>
            <a:fillRect/>
          </a:stretch>
        </p:blipFill>
        <p:spPr>
          <a:xfrm>
            <a:off x="457200" y="2425192"/>
            <a:ext cx="237744" cy="237744"/>
          </a:xfrm>
          <a:prstGeom prst="rect">
            <a:avLst/>
          </a:prstGeom>
        </p:spPr>
      </p:pic>
      <p:sp>
        <p:nvSpPr>
          <p:cNvPr id="11" name="Text 8"/>
          <p:cNvSpPr txBox="1"/>
          <p:nvPr/>
        </p:nvSpPr>
        <p:spPr>
          <a:xfrm>
            <a:off x="777240" y="2379472"/>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800096"/>
            <a:ext cx="5120640" cy="373888"/>
          </a:xfrm>
          <a:prstGeom prst="roundRect">
            <a:avLst>
              <a:gd name="adj" fmla="val 24457"/>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877312"/>
            <a:ext cx="219456" cy="219456"/>
          </a:xfrm>
          <a:prstGeom prst="rect">
            <a:avLst/>
          </a:prstGeom>
        </p:spPr>
      </p:pic>
      <p:sp>
        <p:nvSpPr>
          <p:cNvPr id="14" name="Text 10"/>
          <p:cNvSpPr txBox="1"/>
          <p:nvPr/>
        </p:nvSpPr>
        <p:spPr>
          <a:xfrm>
            <a:off x="932688" y="2800096"/>
            <a:ext cx="4480560" cy="373888"/>
          </a:xfrm>
          <a:prstGeom prst="rect">
            <a:avLst/>
          </a:prstGeom>
          <a:noFill/>
          <a:ln/>
        </p:spPr>
        <p:txBody>
          <a:bodyPr wrap="square" lIns="0" tIns="0" rIns="0" bIns="0" rtlCol="0" anchor="ctr"/>
          <a:lstStyle/>
          <a:p>
            <a:pPr indent="0" marL="0">
              <a:buNone/>
            </a:pPr>
            <a:r>
              <a:rPr lang="en-US" sz="1400" dirty="0">
                <a:solidFill>
                  <a:schemeClr val="tx1"/>
                </a:solidFill>
              </a:rPr>
              <a:t>수압 버튼의 램프등이 깜빡거린다.</a:t>
            </a:r>
            <a:endParaRPr lang="en-US" sz="1400" dirty="0"/>
          </a:p>
        </p:txBody>
      </p:sp>
      <p:sp>
        <p:nvSpPr>
          <p:cNvPr id="15"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16" name="Image 2" descr="preencoded.png">    </p:cNvPr>
          <p:cNvPicPr>
            <a:picLocks noChangeAspect="1"/>
          </p:cNvPicPr>
          <p:nvPr/>
        </p:nvPicPr>
        <p:blipFill>
          <a:blip r:embed="rId3"/>
          <a:stretch>
            <a:fillRect/>
          </a:stretch>
        </p:blipFill>
        <p:spPr>
          <a:xfrm>
            <a:off x="7040880" y="2231136"/>
            <a:ext cx="457200" cy="457200"/>
          </a:xfrm>
          <a:prstGeom prst="rect">
            <a:avLst/>
          </a:prstGeom>
        </p:spPr>
      </p:pic>
      <p:sp>
        <p:nvSpPr>
          <p:cNvPr id="17" name="Text 12"/>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플로트스위치 사진</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번호 9"/>
          <p:cNvSpPr/>
          <p:nvPr/>
        </p:nvSpPr>
        <p:spPr>
          <a:xfrm>
            <a:off x="457200" y="365760"/>
            <a:ext cx="457200" cy="457200"/>
          </a:xfrm>
          <a:prstGeom prst="ellipse">
            <a:avLst/>
          </a:prstGeom>
          <a:solidFill>
            <a:schemeClr val="accent2"/>
          </a:solidFill>
          <a:ln w="12700">
            <a:solidFill>
              <a:schemeClr val="bg1"/>
            </a:solidFill>
            <a:prstDash val="solid"/>
          </a:ln>
        </p:spPr>
      </p:sp>
      <p:sp>
        <p:nvSpPr>
          <p:cNvPr id="3" name="Text 1"/>
          <p:cNvSpPr txBox="1"/>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9</a:t>
            </a:r>
            <a:endParaRPr lang="en-US" sz="1800" dirty="0"/>
          </a:p>
        </p:txBody>
      </p:sp>
      <p:sp>
        <p:nvSpPr>
          <p:cNvPr id="4" name="Text 2"/>
          <p:cNvSpPr txBox="1"/>
          <p:nvPr/>
        </p:nvSpPr>
        <p:spPr>
          <a:xfrm>
            <a:off x="1024128" y="365760"/>
            <a:ext cx="1828800" cy="457200"/>
          </a:xfrm>
          <a:prstGeom prst="rect">
            <a:avLst/>
          </a:prstGeom>
          <a:noFill/>
          <a:ln/>
        </p:spPr>
        <p:txBody>
          <a:bodyPr wrap="square" lIns="0" tIns="0" rIns="0" bIns="0" rtlCol="0" anchor="ctr"/>
          <a:lstStyle/>
          <a:p>
            <a:pPr indent="0" marL="0">
              <a:buNone/>
            </a:pPr>
            <a:r>
              <a:rPr lang="en-US" sz="1400" b="1" dirty="0">
                <a:solidFill>
                  <a:schemeClr val="accent1"/>
                </a:solidFill>
              </a:rPr>
              <a:t>부품 09</a:t>
            </a:r>
            <a:endParaRPr lang="en-US" sz="1400" dirty="0"/>
          </a:p>
        </p:txBody>
      </p:sp>
      <p:sp>
        <p:nvSpPr>
          <p:cNvPr id="5" name="Text 3"/>
          <p:cNvSpPr txBox="1"/>
          <p:nvPr/>
        </p:nvSpPr>
        <p:spPr>
          <a:xfrm>
            <a:off x="457200" y="896112"/>
            <a:ext cx="5120640" cy="548640"/>
          </a:xfrm>
          <a:prstGeom prst="rect">
            <a:avLst/>
          </a:prstGeom>
          <a:noFill/>
          <a:ln/>
        </p:spPr>
        <p:txBody>
          <a:bodyPr wrap="square" lIns="0" tIns="0" rIns="0" bIns="0" rtlCol="0" anchor="ctr">
            <a:normAutofit/>
          </a:bodyPr>
          <a:lstStyle/>
          <a:p>
            <a:pPr indent="0" marL="0">
              <a:buNone/>
            </a:pPr>
            <a:r>
              <a:rPr lang="en-US" sz="2800" b="1" dirty="0">
                <a:solidFill>
                  <a:schemeClr val="tx2"/>
                </a:solidFill>
              </a:rPr>
              <a:t>건조드라이</a:t>
            </a:r>
            <a:endParaRPr lang="en-US" sz="2800" dirty="0"/>
          </a:p>
        </p:txBody>
      </p:sp>
      <p:sp>
        <p:nvSpPr>
          <p:cNvPr id="6" name="역할"/>
          <p:cNvSpPr/>
          <p:nvPr/>
        </p:nvSpPr>
        <p:spPr>
          <a:xfrm>
            <a:off x="457200" y="1554480"/>
            <a:ext cx="5120640" cy="430784"/>
          </a:xfrm>
          <a:prstGeom prst="roundRect">
            <a:avLst>
              <a:gd name="adj" fmla="val 21226"/>
            </a:avLst>
          </a:prstGeom>
          <a:solidFill>
            <a:schemeClr val="bg1"/>
          </a:solidFill>
          <a:ln/>
          <a:effectLst>
            <a:outerShdw sx="100000" sy="100000" kx="0" ky="0" algn="bl" rotWithShape="0" blurRad="101600" dist="25400" dir="5400000">
              <a:srgbClr val="12324A">
                <a:alpha val="10000"/>
              </a:srgbClr>
            </a:outerShdw>
          </a:effectLst>
        </p:spPr>
      </p:sp>
      <p:sp>
        <p:nvSpPr>
          <p:cNvPr id="7" name="Shape 5"/>
          <p:cNvSpPr/>
          <p:nvPr/>
        </p:nvSpPr>
        <p:spPr>
          <a:xfrm>
            <a:off x="594360" y="1664208"/>
            <a:ext cx="566928" cy="274320"/>
          </a:xfrm>
          <a:prstGeom prst="roundRect">
            <a:avLst>
              <a:gd name="adj" fmla="val 50000"/>
            </a:avLst>
          </a:prstGeom>
          <a:solidFill>
            <a:schemeClr val="accent1"/>
          </a:solidFill>
          <a:ln/>
        </p:spPr>
      </p:sp>
      <p:sp>
        <p:nvSpPr>
          <p:cNvPr id="8" name="Text 6"/>
          <p:cNvSpPr txBox="1"/>
          <p:nvPr/>
        </p:nvSpPr>
        <p:spPr>
          <a:xfrm>
            <a:off x="594360" y="1664208"/>
            <a:ext cx="566928" cy="274320"/>
          </a:xfrm>
          <a:prstGeom prst="rect">
            <a:avLst/>
          </a:prstGeom>
          <a:noFill/>
          <a:ln/>
        </p:spPr>
        <p:txBody>
          <a:bodyPr wrap="square" lIns="0" tIns="0" rIns="0" bIns="0" rtlCol="0" anchor="ctr"/>
          <a:lstStyle/>
          <a:p>
            <a:pPr algn="ctr" indent="0" marL="0">
              <a:buNone/>
            </a:pPr>
            <a:r>
              <a:rPr lang="en-US" sz="1200" b="1" dirty="0">
                <a:solidFill>
                  <a:schemeClr val="bg1"/>
                </a:solidFill>
              </a:rPr>
              <a:t>역할</a:t>
            </a:r>
            <a:endParaRPr lang="en-US" sz="1200" dirty="0"/>
          </a:p>
        </p:txBody>
      </p:sp>
      <p:sp>
        <p:nvSpPr>
          <p:cNvPr id="9" name="Text 7"/>
          <p:cNvSpPr txBox="1"/>
          <p:nvPr/>
        </p:nvSpPr>
        <p:spPr>
          <a:xfrm>
            <a:off x="1298448" y="1664208"/>
            <a:ext cx="4114800" cy="211328"/>
          </a:xfrm>
          <a:prstGeom prst="rect">
            <a:avLst/>
          </a:prstGeom>
          <a:noFill/>
          <a:ln/>
        </p:spPr>
        <p:txBody>
          <a:bodyPr wrap="square" lIns="0" tIns="0" rIns="0" bIns="0" rtlCol="0" anchor="ctr"/>
          <a:lstStyle/>
          <a:p>
            <a:pPr indent="0" marL="0">
              <a:buNone/>
            </a:pPr>
            <a:r>
              <a:rPr lang="en-US" sz="1300" dirty="0">
                <a:solidFill>
                  <a:schemeClr val="tx1"/>
                </a:solidFill>
              </a:rPr>
              <a:t>바람이 나와 세정한 부분을 말려준다.</a:t>
            </a:r>
            <a:endParaRPr lang="en-US" sz="1300" dirty="0"/>
          </a:p>
        </p:txBody>
      </p:sp>
      <p:pic>
        <p:nvPicPr>
          <p:cNvPr id="10" name="Image 0" descr="preencoded.png">    </p:cNvPr>
          <p:cNvPicPr>
            <a:picLocks noChangeAspect="1"/>
          </p:cNvPicPr>
          <p:nvPr/>
        </p:nvPicPr>
        <p:blipFill>
          <a:blip r:embed="rId1"/>
          <a:stretch>
            <a:fillRect/>
          </a:stretch>
        </p:blipFill>
        <p:spPr>
          <a:xfrm>
            <a:off x="457200" y="2213864"/>
            <a:ext cx="237744" cy="237744"/>
          </a:xfrm>
          <a:prstGeom prst="rect">
            <a:avLst/>
          </a:prstGeom>
        </p:spPr>
      </p:pic>
      <p:sp>
        <p:nvSpPr>
          <p:cNvPr id="11" name="Text 8"/>
          <p:cNvSpPr txBox="1"/>
          <p:nvPr/>
        </p:nvSpPr>
        <p:spPr>
          <a:xfrm>
            <a:off x="777240" y="2168144"/>
            <a:ext cx="3657600" cy="329184"/>
          </a:xfrm>
          <a:prstGeom prst="rect">
            <a:avLst/>
          </a:prstGeom>
          <a:noFill/>
          <a:ln/>
        </p:spPr>
        <p:txBody>
          <a:bodyPr wrap="square" lIns="0" tIns="0" rIns="0" bIns="0" rtlCol="0" anchor="ctr"/>
          <a:lstStyle/>
          <a:p>
            <a:pPr indent="0" marL="0">
              <a:buNone/>
            </a:pPr>
            <a:r>
              <a:rPr lang="en-US" sz="1500" b="1" dirty="0">
                <a:solidFill>
                  <a:schemeClr val="accent3"/>
                </a:solidFill>
              </a:rPr>
              <a:t>고장 증상</a:t>
            </a:r>
            <a:endParaRPr lang="en-US" sz="1500" dirty="0"/>
          </a:p>
        </p:txBody>
      </p:sp>
      <p:sp>
        <p:nvSpPr>
          <p:cNvPr id="12" name="증상"/>
          <p:cNvSpPr/>
          <p:nvPr/>
        </p:nvSpPr>
        <p:spPr>
          <a:xfrm>
            <a:off x="457200" y="2588768"/>
            <a:ext cx="5120640" cy="373888"/>
          </a:xfrm>
          <a:prstGeom prst="roundRect">
            <a:avLst>
              <a:gd name="adj" fmla="val 24457"/>
            </a:avLst>
          </a:prstGeom>
          <a:solidFill>
            <a:schemeClr val="bg1"/>
          </a:solidFill>
          <a:ln/>
          <a:effectLst>
            <a:outerShdw sx="100000" sy="100000" kx="0" ky="0" algn="bl" rotWithShape="0" blurRad="101600" dist="25400" dir="5400000">
              <a:srgbClr val="12324A">
                <a:alpha val="10000"/>
              </a:srgbClr>
            </a:outerShdw>
          </a:effectLst>
        </p:spPr>
      </p:sp>
      <p:pic>
        <p:nvPicPr>
          <p:cNvPr id="13" name="Image 1" descr="preencoded.png">    </p:cNvPr>
          <p:cNvPicPr>
            <a:picLocks noChangeAspect="1"/>
          </p:cNvPicPr>
          <p:nvPr/>
        </p:nvPicPr>
        <p:blipFill>
          <a:blip r:embed="rId2"/>
          <a:stretch>
            <a:fillRect/>
          </a:stretch>
        </p:blipFill>
        <p:spPr>
          <a:xfrm>
            <a:off x="594360" y="2665984"/>
            <a:ext cx="219456" cy="219456"/>
          </a:xfrm>
          <a:prstGeom prst="rect">
            <a:avLst/>
          </a:prstGeom>
        </p:spPr>
      </p:pic>
      <p:sp>
        <p:nvSpPr>
          <p:cNvPr id="14" name="Text 10"/>
          <p:cNvSpPr txBox="1"/>
          <p:nvPr/>
        </p:nvSpPr>
        <p:spPr>
          <a:xfrm>
            <a:off x="932688" y="2588768"/>
            <a:ext cx="4480560" cy="373888"/>
          </a:xfrm>
          <a:prstGeom prst="rect">
            <a:avLst/>
          </a:prstGeom>
          <a:noFill/>
          <a:ln/>
        </p:spPr>
        <p:txBody>
          <a:bodyPr wrap="square" lIns="0" tIns="0" rIns="0" bIns="0" rtlCol="0" anchor="ctr"/>
          <a:lstStyle/>
          <a:p>
            <a:pPr indent="0" marL="0">
              <a:buNone/>
            </a:pPr>
            <a:r>
              <a:rPr lang="en-US" sz="1400" dirty="0">
                <a:solidFill>
                  <a:schemeClr val="tx1"/>
                </a:solidFill>
              </a:rPr>
              <a:t>건조버튼을 눌러도 아무 반응이 없다.</a:t>
            </a:r>
            <a:endParaRPr lang="en-US" sz="1400" dirty="0"/>
          </a:p>
        </p:txBody>
      </p:sp>
      <p:sp>
        <p:nvSpPr>
          <p:cNvPr id="15" name="증상"/>
          <p:cNvSpPr/>
          <p:nvPr/>
        </p:nvSpPr>
        <p:spPr>
          <a:xfrm>
            <a:off x="457200" y="3035808"/>
            <a:ext cx="5120640" cy="601472"/>
          </a:xfrm>
          <a:prstGeom prst="roundRect">
            <a:avLst>
              <a:gd name="adj" fmla="val 15203"/>
            </a:avLst>
          </a:prstGeom>
          <a:solidFill>
            <a:schemeClr val="bg1"/>
          </a:solidFill>
          <a:ln/>
          <a:effectLst>
            <a:outerShdw sx="100000" sy="100000" kx="0" ky="0" algn="bl" rotWithShape="0" blurRad="101600" dist="25400" dir="5400000">
              <a:srgbClr val="12324A">
                <a:alpha val="10000"/>
              </a:srgbClr>
            </a:outerShdw>
          </a:effectLst>
        </p:spPr>
      </p:sp>
      <p:pic>
        <p:nvPicPr>
          <p:cNvPr id="16" name="Image 2" descr="preencoded.png">    </p:cNvPr>
          <p:cNvPicPr>
            <a:picLocks noChangeAspect="1"/>
          </p:cNvPicPr>
          <p:nvPr/>
        </p:nvPicPr>
        <p:blipFill>
          <a:blip r:embed="rId3"/>
          <a:stretch>
            <a:fillRect/>
          </a:stretch>
        </p:blipFill>
        <p:spPr>
          <a:xfrm>
            <a:off x="594360" y="3226816"/>
            <a:ext cx="219456" cy="219456"/>
          </a:xfrm>
          <a:prstGeom prst="rect">
            <a:avLst/>
          </a:prstGeom>
        </p:spPr>
      </p:pic>
      <p:sp>
        <p:nvSpPr>
          <p:cNvPr id="17" name="Text 12"/>
          <p:cNvSpPr txBox="1"/>
          <p:nvPr/>
        </p:nvSpPr>
        <p:spPr>
          <a:xfrm>
            <a:off x="932688" y="3035808"/>
            <a:ext cx="4480560" cy="601472"/>
          </a:xfrm>
          <a:prstGeom prst="rect">
            <a:avLst/>
          </a:prstGeom>
          <a:noFill/>
          <a:ln/>
        </p:spPr>
        <p:txBody>
          <a:bodyPr wrap="square" lIns="0" tIns="0" rIns="0" bIns="0" rtlCol="0" anchor="ctr"/>
          <a:lstStyle/>
          <a:p>
            <a:pPr indent="0" marL="0">
              <a:buNone/>
            </a:pPr>
            <a:r>
              <a:rPr lang="en-US" sz="1400" dirty="0">
                <a:solidFill>
                  <a:schemeClr val="tx1"/>
                </a:solidFill>
              </a:rPr>
              <a:t>바람은 나오나 모터 타는 냄새가 심하게 난다.</a:t>
            </a:r>
            <a:endParaRPr lang="en-US" sz="1400" dirty="0"/>
          </a:p>
        </p:txBody>
      </p:sp>
      <p:sp>
        <p:nvSpPr>
          <p:cNvPr id="18" name="사진 자리"/>
          <p:cNvSpPr/>
          <p:nvPr/>
        </p:nvSpPr>
        <p:spPr>
          <a:xfrm>
            <a:off x="5852160" y="365760"/>
            <a:ext cx="2834640" cy="4480560"/>
          </a:xfrm>
          <a:prstGeom prst="roundRect">
            <a:avLst>
              <a:gd name="adj" fmla="val 3871"/>
            </a:avLst>
          </a:prstGeom>
          <a:solidFill>
            <a:schemeClr val="accent6"/>
          </a:solidFill>
          <a:ln w="15875">
            <a:solidFill>
              <a:srgbClr val="B4C4CF"/>
            </a:solidFill>
            <a:prstDash val="dash"/>
          </a:ln>
        </p:spPr>
      </p:sp>
      <p:pic>
        <p:nvPicPr>
          <p:cNvPr id="19" name="Image 3" descr="preencoded.png">    </p:cNvPr>
          <p:cNvPicPr>
            <a:picLocks noChangeAspect="1"/>
          </p:cNvPicPr>
          <p:nvPr/>
        </p:nvPicPr>
        <p:blipFill>
          <a:blip r:embed="rId4"/>
          <a:stretch>
            <a:fillRect/>
          </a:stretch>
        </p:blipFill>
        <p:spPr>
          <a:xfrm>
            <a:off x="7040880" y="2231136"/>
            <a:ext cx="457200" cy="457200"/>
          </a:xfrm>
          <a:prstGeom prst="rect">
            <a:avLst/>
          </a:prstGeom>
        </p:spPr>
      </p:pic>
      <p:sp>
        <p:nvSpPr>
          <p:cNvPr id="20" name="Text 14"/>
          <p:cNvSpPr txBox="1"/>
          <p:nvPr/>
        </p:nvSpPr>
        <p:spPr>
          <a:xfrm>
            <a:off x="5943600" y="2724912"/>
            <a:ext cx="2651760" cy="256032"/>
          </a:xfrm>
          <a:prstGeom prst="rect">
            <a:avLst/>
          </a:prstGeom>
          <a:noFill/>
          <a:ln/>
        </p:spPr>
        <p:txBody>
          <a:bodyPr wrap="square" lIns="0" tIns="0" rIns="0" bIns="0" rtlCol="0" anchor="ctr"/>
          <a:lstStyle/>
          <a:p>
            <a:pPr algn="ctr" indent="0" marL="0">
              <a:buNone/>
            </a:pPr>
            <a:r>
              <a:rPr lang="en-US" sz="1000" dirty="0">
                <a:solidFill>
                  <a:srgbClr val="7D909C"/>
                </a:solidFill>
              </a:rPr>
              <a:t>건조드라이 사진</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777240"/>
            <a:ext cx="4572000" cy="365760"/>
          </a:xfrm>
          <a:prstGeom prst="rect">
            <a:avLst/>
          </a:prstGeom>
          <a:noFill/>
          <a:ln/>
        </p:spPr>
        <p:txBody>
          <a:bodyPr wrap="square" lIns="0" tIns="0" rIns="0" bIns="0" rtlCol="0" anchor="ctr"/>
          <a:lstStyle/>
          <a:p>
            <a:pPr indent="0" marL="0">
              <a:buNone/>
            </a:pPr>
            <a:r>
              <a:rPr lang="en-US" sz="1600" b="1" dirty="0">
                <a:solidFill>
                  <a:schemeClr val="accent1"/>
                </a:solidFill>
              </a:rPr>
              <a:t>수리 완료!</a:t>
            </a:r>
            <a:endParaRPr lang="en-US" sz="1600" dirty="0"/>
          </a:p>
        </p:txBody>
      </p:sp>
      <p:sp>
        <p:nvSpPr>
          <p:cNvPr id="3" name="Text 1"/>
          <p:cNvSpPr txBox="1"/>
          <p:nvPr/>
        </p:nvSpPr>
        <p:spPr>
          <a:xfrm>
            <a:off x="548640" y="1188720"/>
            <a:ext cx="4754880" cy="1280160"/>
          </a:xfrm>
          <a:prstGeom prst="rect">
            <a:avLst/>
          </a:prstGeom>
          <a:noFill/>
          <a:ln/>
        </p:spPr>
        <p:txBody>
          <a:bodyPr wrap="square" lIns="0" tIns="0" rIns="0" bIns="0" rtlCol="0" anchor="t"/>
          <a:lstStyle/>
          <a:p>
            <a:pPr indent="0" marL="0">
              <a:buNone/>
            </a:pPr>
            <a:r>
              <a:rPr lang="en-US" sz="3200" b="1" dirty="0">
                <a:solidFill>
                  <a:schemeClr val="bg1"/>
                </a:solidFill>
              </a:rPr>
              <a:t>필요한 부품은</a:t>
            </a:r>
            <a:endParaRPr lang="en-US" sz="3200" dirty="0"/>
          </a:p>
          <a:p>
            <a:pPr indent="0" marL="0">
              <a:buNone/>
            </a:pPr>
            <a:r>
              <a:rPr lang="en-US" sz="3200" b="1" dirty="0">
                <a:solidFill>
                  <a:schemeClr val="bg1"/>
                </a:solidFill>
              </a:rPr>
              <a:t>바로바스에서 찾으세요</a:t>
            </a:r>
            <a:endParaRPr lang="en-US" sz="3200" dirty="0"/>
          </a:p>
        </p:txBody>
      </p:sp>
      <p:sp>
        <p:nvSpPr>
          <p:cNvPr id="4" name="Text 2"/>
          <p:cNvSpPr txBox="1"/>
          <p:nvPr/>
        </p:nvSpPr>
        <p:spPr>
          <a:xfrm>
            <a:off x="548640" y="2560320"/>
            <a:ext cx="4754880" cy="320040"/>
          </a:xfrm>
          <a:prstGeom prst="rect">
            <a:avLst/>
          </a:prstGeom>
          <a:noFill/>
          <a:ln/>
        </p:spPr>
        <p:txBody>
          <a:bodyPr wrap="square" lIns="0" tIns="0" rIns="0" bIns="0" rtlCol="0" anchor="ctr"/>
          <a:lstStyle/>
          <a:p>
            <a:pPr indent="0" marL="0">
              <a:buNone/>
            </a:pPr>
            <a:r>
              <a:rPr lang="en-US" sz="1400" dirty="0">
                <a:solidFill>
                  <a:srgbClr val="B8CCD8"/>
                </a:solidFill>
              </a:rPr>
              <a:t>대림바스 DB-4000 비데 교체 부품</a:t>
            </a:r>
            <a:endParaRPr lang="en-US" sz="1400" dirty="0"/>
          </a:p>
        </p:txBody>
      </p:sp>
      <p:sp>
        <p:nvSpPr>
          <p:cNvPr id="5" name="Shape 3"/>
          <p:cNvSpPr/>
          <p:nvPr/>
        </p:nvSpPr>
        <p:spPr>
          <a:xfrm>
            <a:off x="548640" y="3154680"/>
            <a:ext cx="4206240" cy="548640"/>
          </a:xfrm>
          <a:prstGeom prst="roundRect">
            <a:avLst>
              <a:gd name="adj" fmla="val 50000"/>
            </a:avLst>
          </a:prstGeom>
          <a:solidFill>
            <a:schemeClr val="bg1"/>
          </a:solidFill>
          <a:ln/>
        </p:spPr>
      </p:sp>
      <p:pic>
        <p:nvPicPr>
          <p:cNvPr id="6" name="Image 0" descr="preencoded.png">    </p:cNvPr>
          <p:cNvPicPr>
            <a:picLocks noChangeAspect="1"/>
          </p:cNvPicPr>
          <p:nvPr/>
        </p:nvPicPr>
        <p:blipFill>
          <a:blip r:embed="rId1"/>
          <a:stretch>
            <a:fillRect/>
          </a:stretch>
        </p:blipFill>
        <p:spPr>
          <a:xfrm>
            <a:off x="749808" y="3291840"/>
            <a:ext cx="274320" cy="274320"/>
          </a:xfrm>
          <a:prstGeom prst="rect">
            <a:avLst/>
          </a:prstGeom>
        </p:spPr>
      </p:pic>
      <p:sp>
        <p:nvSpPr>
          <p:cNvPr id="7" name="Text 4"/>
          <p:cNvSpPr txBox="1"/>
          <p:nvPr/>
        </p:nvSpPr>
        <p:spPr>
          <a:xfrm>
            <a:off x="1115568" y="3154680"/>
            <a:ext cx="3566160" cy="548640"/>
          </a:xfrm>
          <a:prstGeom prst="rect">
            <a:avLst/>
          </a:prstGeom>
          <a:noFill/>
          <a:ln/>
        </p:spPr>
        <p:txBody>
          <a:bodyPr wrap="square" lIns="0" tIns="0" rIns="0" bIns="0" rtlCol="0" anchor="ctr"/>
          <a:lstStyle/>
          <a:p>
            <a:pPr indent="0" marL="0">
              <a:buNone/>
            </a:pPr>
            <a:r>
              <a:rPr lang="en-US" sz="1500" dirty="0">
                <a:solidFill>
                  <a:schemeClr val="tx1"/>
                </a:solidFill>
              </a:rPr>
              <a:t>네이버에서 </a:t>
            </a:r>
            <a:pPr indent="0" marL="0">
              <a:buNone/>
            </a:pPr>
            <a:r>
              <a:rPr lang="en-US" sz="1500" b="1" dirty="0">
                <a:solidFill>
                  <a:schemeClr val="accent1"/>
                </a:solidFill>
              </a:rPr>
              <a:t>'바로바스'</a:t>
            </a:r>
            <a:pPr indent="0" marL="0">
              <a:buNone/>
            </a:pPr>
            <a:r>
              <a:rPr lang="en-US" sz="1500" dirty="0">
                <a:solidFill>
                  <a:schemeClr val="tx1"/>
                </a:solidFill>
              </a:rPr>
              <a:t> 검색</a:t>
            </a:r>
            <a:endParaRPr lang="en-US" sz="1500" dirty="0"/>
          </a:p>
        </p:txBody>
      </p:sp>
      <p:pic>
        <p:nvPicPr>
          <p:cNvPr id="8" name="Image 1" descr="preencoded.png">    </p:cNvPr>
          <p:cNvPicPr>
            <a:picLocks noChangeAspect="1"/>
          </p:cNvPicPr>
          <p:nvPr/>
        </p:nvPicPr>
        <p:blipFill>
          <a:blip r:embed="rId2"/>
          <a:stretch>
            <a:fillRect/>
          </a:stretch>
        </p:blipFill>
        <p:spPr>
          <a:xfrm>
            <a:off x="548640" y="3959352"/>
            <a:ext cx="292608" cy="292608"/>
          </a:xfrm>
          <a:prstGeom prst="rect">
            <a:avLst/>
          </a:prstGeom>
        </p:spPr>
      </p:pic>
      <p:sp>
        <p:nvSpPr>
          <p:cNvPr id="9" name="Text 5"/>
          <p:cNvSpPr txBox="1"/>
          <p:nvPr/>
        </p:nvSpPr>
        <p:spPr>
          <a:xfrm>
            <a:off x="932688" y="3931920"/>
            <a:ext cx="4114800" cy="347472"/>
          </a:xfrm>
          <a:prstGeom prst="rect">
            <a:avLst/>
          </a:prstGeom>
          <a:noFill/>
          <a:ln/>
        </p:spPr>
        <p:txBody>
          <a:bodyPr wrap="square" lIns="0" tIns="0" rIns="0" bIns="0" rtlCol="0" anchor="ctr"/>
          <a:lstStyle/>
          <a:p>
            <a:pPr indent="0" marL="0">
              <a:buNone/>
            </a:pPr>
            <a:r>
              <a:rPr lang="en-US" sz="1300" dirty="0">
                <a:solidFill>
                  <a:srgbClr val="B8CCD8"/>
                </a:solidFill>
              </a:rPr>
              <a:t>구독하고 다른 부품 교체 영상도 확인하세요</a:t>
            </a:r>
            <a:endParaRPr lang="en-US" sz="1300" dirty="0"/>
          </a:p>
        </p:txBody>
      </p:sp>
      <p:sp>
        <p:nvSpPr>
          <p:cNvPr id="10"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11" name="Image 2" descr="preencoded.png">    </p:cNvPr>
          <p:cNvPicPr>
            <a:picLocks noChangeAspect="1"/>
          </p:cNvPicPr>
          <p:nvPr/>
        </p:nvPicPr>
        <p:blipFill>
          <a:blip r:embed="rId3"/>
          <a:stretch>
            <a:fillRect/>
          </a:stretch>
        </p:blipFill>
        <p:spPr>
          <a:xfrm>
            <a:off x="6766560" y="2116836"/>
            <a:ext cx="457200" cy="457200"/>
          </a:xfrm>
          <a:prstGeom prst="rect">
            <a:avLst/>
          </a:prstGeom>
        </p:spPr>
      </p:pic>
      <p:sp>
        <p:nvSpPr>
          <p:cNvPr id="12"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수리 완료된 제품 사진</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노즐</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1"/>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01 · 세정 시 엉덩이쪽으로 물을 분사해준다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노즐 부품 사진</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메인PCB</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2"/>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02 · 전원을 인가하며 비데 부품들을 제어한다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메인PCB 부품 사진</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급수부 아세이</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3"/>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03 · 세정 시 벽배관에서 나오는 물을 탱크로 보내거나 멈추게 해준다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급수부 아세이 부품 사진</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온수탱크</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4"/>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04 · 설정 온도에 맞는 물이 나오도록 물을 데우며 바로 사용할 수 있도록 저장한다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온수탱크 부품 사진</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시트 / 커버(리드)</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5"/>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05 · 내부에 있는 열선으로 착좌 부위를 따뜻하게 해준다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시트 / 커버(리드) 부품 사진</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시트·커버 댐퍼</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6"/>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6</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06 · 시트 / 커버를 내릴 때 천천히 떨어지게 해준다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시트·커버 댐퍼 부품 사진</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프론트PCB</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7"/>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7</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07 · 비데의 각 기능들을 구분 지어 작동할 수 있게 한다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프론트PCB 부품 사진</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플로트스위치</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8"/>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8</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08 · 온수탱크 내에 물이 얼만큼 차 있는지 측정하는 수량센서</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플로트스위치 부품 사진</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ctr"/>
          <a:lstStyle/>
          <a:p>
            <a:pPr indent="0" marL="0">
              <a:buNone/>
            </a:pPr>
            <a:r>
              <a:rPr lang="en-US" sz="1500" b="1" dirty="0">
                <a:solidFill>
                  <a:schemeClr val="accent1"/>
                </a:solidFill>
              </a:rPr>
              <a:t>대림바스 DB-4000 비데</a:t>
            </a:r>
            <a:endParaRPr lang="en-US" sz="1500" dirty="0"/>
          </a:p>
        </p:txBody>
      </p:sp>
      <p:sp>
        <p:nvSpPr>
          <p:cNvPr id="3" name="Text 1"/>
          <p:cNvSpPr txBox="1"/>
          <p:nvPr/>
        </p:nvSpPr>
        <p:spPr>
          <a:xfrm>
            <a:off x="548640" y="1325880"/>
            <a:ext cx="4663440" cy="1463040"/>
          </a:xfrm>
          <a:prstGeom prst="rect">
            <a:avLst/>
          </a:prstGeom>
          <a:noFill/>
          <a:ln/>
        </p:spPr>
        <p:txBody>
          <a:bodyPr wrap="square" lIns="0" tIns="0" rIns="0" bIns="0" rtlCol="0" anchor="t">
            <a:normAutofit/>
          </a:bodyPr>
          <a:lstStyle/>
          <a:p>
            <a:pPr indent="0" marL="0">
              <a:buNone/>
            </a:pPr>
            <a:r>
              <a:rPr lang="en-US" sz="3800" b="1" dirty="0">
                <a:solidFill>
                  <a:schemeClr val="accent2"/>
                </a:solidFill>
              </a:rPr>
              <a:t>건조드라이</a:t>
            </a:r>
            <a:pPr indent="0" marL="0">
              <a:buNone/>
            </a:pPr>
            <a:endParaRPr lang="en-US" sz="3800" dirty="0"/>
          </a:p>
          <a:p>
            <a:pPr indent="0" marL="0">
              <a:buNone/>
            </a:pPr>
            <a:r>
              <a:rPr lang="en-US" sz="3800" b="1" dirty="0">
                <a:solidFill>
                  <a:schemeClr val="bg1"/>
                </a:solidFill>
              </a:rPr>
              <a:t>교체 방법</a:t>
            </a:r>
            <a:endParaRPr lang="en-US" sz="3800" dirty="0"/>
          </a:p>
        </p:txBody>
      </p:sp>
      <p:sp>
        <p:nvSpPr>
          <p:cNvPr id="4" name="Text 2"/>
          <p:cNvSpPr txBox="1"/>
          <p:nvPr/>
        </p:nvSpPr>
        <p:spPr>
          <a:xfrm>
            <a:off x="548640" y="2926080"/>
            <a:ext cx="4572000" cy="320040"/>
          </a:xfrm>
          <a:prstGeom prst="rect">
            <a:avLst/>
          </a:prstGeom>
          <a:noFill/>
          <a:ln/>
        </p:spPr>
        <p:txBody>
          <a:bodyPr wrap="square" lIns="0" tIns="0" rIns="0" bIns="0" rtlCol="0" anchor="ctr"/>
          <a:lstStyle/>
          <a:p>
            <a:pPr indent="0" marL="0">
              <a:buNone/>
            </a:pPr>
            <a:r>
              <a:rPr lang="en-US" sz="1400" dirty="0">
                <a:solidFill>
                  <a:srgbClr val="B8CCD8"/>
                </a:solidFill>
              </a:rPr>
              <a:t>고장 증상 확인부터 교체까지 한 번에</a:t>
            </a:r>
            <a:endParaRPr lang="en-US" sz="1400" dirty="0"/>
          </a:p>
        </p:txBody>
      </p:sp>
      <p:sp>
        <p:nvSpPr>
          <p:cNvPr id="5" name="번호 9"/>
          <p:cNvSpPr/>
          <p:nvPr/>
        </p:nvSpPr>
        <p:spPr>
          <a:xfrm>
            <a:off x="548640" y="3566160"/>
            <a:ext cx="457200" cy="457200"/>
          </a:xfrm>
          <a:prstGeom prst="ellipse">
            <a:avLst/>
          </a:prstGeom>
          <a:solidFill>
            <a:schemeClr val="accent2"/>
          </a:solidFill>
          <a:ln w="12700">
            <a:solidFill>
              <a:schemeClr val="bg1"/>
            </a:solidFill>
            <a:prstDash val="solid"/>
          </a:ln>
        </p:spPr>
      </p:sp>
      <p:sp>
        <p:nvSpPr>
          <p:cNvPr id="6" name="Text 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9</a:t>
            </a:r>
            <a:endParaRPr lang="en-US" sz="1800" dirty="0"/>
          </a:p>
        </p:txBody>
      </p:sp>
      <p:sp>
        <p:nvSpPr>
          <p:cNvPr id="7" name="Text 5"/>
          <p:cNvSpPr txBox="1"/>
          <p:nvPr/>
        </p:nvSpPr>
        <p:spPr>
          <a:xfrm>
            <a:off x="1115568" y="3566160"/>
            <a:ext cx="4023360" cy="457200"/>
          </a:xfrm>
          <a:prstGeom prst="rect">
            <a:avLst/>
          </a:prstGeom>
          <a:noFill/>
          <a:ln/>
        </p:spPr>
        <p:txBody>
          <a:bodyPr wrap="square" lIns="0" tIns="0" rIns="0" bIns="0" rtlCol="0" anchor="ctr">
            <a:normAutofit/>
          </a:bodyPr>
          <a:lstStyle/>
          <a:p>
            <a:pPr indent="0" marL="0">
              <a:buNone/>
            </a:pPr>
            <a:r>
              <a:rPr lang="en-US" sz="1300" dirty="0">
                <a:solidFill>
                  <a:srgbClr val="B8CCD8"/>
                </a:solidFill>
              </a:rPr>
              <a:t>부품 09 · 바람이 나와 세정한 부분을 말려준다</a:t>
            </a:r>
            <a:endParaRPr lang="en-US" sz="1300" dirty="0"/>
          </a:p>
        </p:txBody>
      </p:sp>
      <p:sp>
        <p:nvSpPr>
          <p:cNvPr id="8" name="사진 자리"/>
          <p:cNvSpPr/>
          <p:nvPr/>
        </p:nvSpPr>
        <p:spPr>
          <a:xfrm>
            <a:off x="5349240" y="457200"/>
            <a:ext cx="3291840" cy="4069080"/>
          </a:xfrm>
          <a:prstGeom prst="roundRect">
            <a:avLst>
              <a:gd name="adj" fmla="val 3333"/>
            </a:avLst>
          </a:prstGeom>
          <a:solidFill>
            <a:schemeClr val="accent4"/>
          </a:solidFill>
          <a:ln w="15875">
            <a:solidFill>
              <a:srgbClr val="5F8096"/>
            </a:solidFill>
            <a:prstDash val="dash"/>
          </a:ln>
        </p:spPr>
      </p:sp>
      <p:pic>
        <p:nvPicPr>
          <p:cNvPr id="9" name="Image 0" descr="preencoded.png">    </p:cNvPr>
          <p:cNvPicPr>
            <a:picLocks noChangeAspect="1"/>
          </p:cNvPicPr>
          <p:nvPr/>
        </p:nvPicPr>
        <p:blipFill>
          <a:blip r:embed="rId1"/>
          <a:stretch>
            <a:fillRect/>
          </a:stretch>
        </p:blipFill>
        <p:spPr>
          <a:xfrm>
            <a:off x="6766560" y="2116836"/>
            <a:ext cx="457200" cy="457200"/>
          </a:xfrm>
          <a:prstGeom prst="rect">
            <a:avLst/>
          </a:prstGeom>
        </p:spPr>
      </p:pic>
      <p:sp>
        <p:nvSpPr>
          <p:cNvPr id="10" name="Text 7"/>
          <p:cNvSpPr txBox="1"/>
          <p:nvPr/>
        </p:nvSpPr>
        <p:spPr>
          <a:xfrm>
            <a:off x="5440680" y="2610612"/>
            <a:ext cx="3108960" cy="256032"/>
          </a:xfrm>
          <a:prstGeom prst="rect">
            <a:avLst/>
          </a:prstGeom>
          <a:noFill/>
          <a:ln/>
        </p:spPr>
        <p:txBody>
          <a:bodyPr wrap="square" lIns="0" tIns="0" rIns="0" bIns="0" rtlCol="0" anchor="ctr"/>
          <a:lstStyle/>
          <a:p>
            <a:pPr algn="ctr" indent="0" marL="0">
              <a:buNone/>
            </a:pPr>
            <a:r>
              <a:rPr lang="en-US" sz="1000" dirty="0">
                <a:solidFill>
                  <a:srgbClr val="8FB0C4"/>
                </a:solidFill>
              </a:rPr>
              <a:t>건조드라이 부품 사진</a:t>
            </a:r>
            <a:endParaRPr lang="en-US" sz="1000" dirty="0"/>
          </a:p>
        </p:txBody>
      </p:sp>
    </p:spTree>
  </p:cSld>
  <p:clrMapOvr>
    <a:masterClrMapping/>
  </p:clrMapOvr>
</p:sld>
</file>

<file path=ppt/theme/theme1.xml><?xml version="1.0" encoding="utf-8"?>
<a:theme xmlns:a="http://schemas.openxmlformats.org/drawingml/2006/main" name="Barobath">
  <a:themeElements>
    <a:clrScheme name="Barobath">
      <a:dk1>
        <a:srgbClr val="1E2A33"/>
      </a:dk1>
      <a:lt1>
        <a:srgbClr val="FFFFFF"/>
      </a:lt1>
      <a:dk2>
        <a:srgbClr val="12324A"/>
      </a:dk2>
      <a:lt2>
        <a:srgbClr val="F4F8FA"/>
      </a:lt2>
      <a:accent1>
        <a:srgbClr val="1FA3B8"/>
      </a:accent1>
      <a:accent2>
        <a:srgbClr val="FFB547"/>
      </a:accent2>
      <a:accent3>
        <a:srgbClr val="E5484D"/>
      </a:accent3>
      <a:accent4>
        <a:srgbClr val="1C4762"/>
      </a:accent4>
      <a:accent5>
        <a:srgbClr val="5D707D"/>
      </a:accent5>
      <a:accent6>
        <a:srgbClr val="E6EDF1"/>
      </a:accent6>
      <a:hlink>
        <a:srgbClr val="1FA3B8"/>
      </a:hlink>
      <a:folHlink>
        <a:srgbClr val="5D707D"/>
      </a:folHlink>
    </a:clrScheme>
    <a:fontScheme name="Barobath">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DB-4000 비데 부품 안내</dc:title>
  <dc:subject>PptxGenJS Presentation</dc:subject>
  <dc:creator>바로바스</dc:creator>
  <cp:lastModifiedBy>바로바스</cp:lastModifiedBy>
  <cp:revision>1</cp:revision>
  <dcterms:created xsi:type="dcterms:W3CDTF">2026-10-15T06:27:43Z</dcterms:created>
  <dcterms:modified xsi:type="dcterms:W3CDTF">2026-10-15T06:27:43Z</dcterms:modified>
</cp:coreProperties>
</file>